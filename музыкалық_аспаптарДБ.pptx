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74" r:id="rId2"/>
    <p:sldId id="266" r:id="rId3"/>
    <p:sldId id="267" r:id="rId4"/>
    <p:sldId id="268" r:id="rId5"/>
    <p:sldId id="275" r:id="rId6"/>
    <p:sldId id="270" r:id="rId7"/>
    <p:sldId id="271" r:id="rId8"/>
    <p:sldId id="272" r:id="rId9"/>
    <p:sldId id="277" r:id="rId10"/>
    <p:sldId id="278" r:id="rId11"/>
    <p:sldId id="279" r:id="rId12"/>
    <p:sldId id="273" r:id="rId13"/>
  </p:sldIdLst>
  <p:sldSz cx="14630400" cy="8229600"/>
  <p:notesSz cx="8229600" cy="14630400"/>
  <p:embeddedFontLst>
    <p:embeddedFont>
      <p:font typeface="Crimson Pro Semi Bold" panose="020B0604020202020204" charset="0"/>
      <p:regular r:id="rId15"/>
    </p:embeddedFont>
    <p:embeddedFont>
      <p:font typeface="Calibri" panose="020F0502020204030204" pitchFamily="34" charset="0"/>
      <p:regular r:id="rId16"/>
      <p:bold r:id="rId17"/>
      <p:italic r:id="rId18"/>
      <p:boldItalic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3017D9-E516-47AD-A6BF-EEDE93772C09}" v="6" dt="2025-12-10T19:16:20.8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52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 Мe" userId="7bdd9d4e209e3a54" providerId="LiveId" clId="{DA3206CA-A557-472E-B05E-88E52883541F}"/>
    <pc:docChg chg="undo custSel addSld delSld modSld">
      <pc:chgData name="Ka Мe" userId="7bdd9d4e209e3a54" providerId="LiveId" clId="{DA3206CA-A557-472E-B05E-88E52883541F}" dt="2025-12-11T07:06:07.346" v="233" actId="14100"/>
      <pc:docMkLst>
        <pc:docMk/>
      </pc:docMkLst>
      <pc:sldChg chg="modSp mod">
        <pc:chgData name="Ka Мe" userId="7bdd9d4e209e3a54" providerId="LiveId" clId="{DA3206CA-A557-472E-B05E-88E52883541F}" dt="2025-12-10T18:41:11.449" v="50" actId="12"/>
        <pc:sldMkLst>
          <pc:docMk/>
          <pc:sldMk cId="1426335195" sldId="272"/>
        </pc:sldMkLst>
        <pc:spChg chg="mod">
          <ac:chgData name="Ka Мe" userId="7bdd9d4e209e3a54" providerId="LiveId" clId="{DA3206CA-A557-472E-B05E-88E52883541F}" dt="2025-12-10T18:41:11.449" v="50" actId="12"/>
          <ac:spMkLst>
            <pc:docMk/>
            <pc:sldMk cId="1426335195" sldId="272"/>
            <ac:spMk id="4" creationId="{9302C274-E5FC-95B1-1ACC-277066DF28C6}"/>
          </ac:spMkLst>
        </pc:spChg>
      </pc:sldChg>
      <pc:sldChg chg="modSp mod">
        <pc:chgData name="Ka Мe" userId="7bdd9d4e209e3a54" providerId="LiveId" clId="{DA3206CA-A557-472E-B05E-88E52883541F}" dt="2025-12-10T20:52:32.332" v="224" actId="790"/>
        <pc:sldMkLst>
          <pc:docMk/>
          <pc:sldMk cId="2416621424" sldId="275"/>
        </pc:sldMkLst>
        <pc:spChg chg="mod">
          <ac:chgData name="Ka Мe" userId="7bdd9d4e209e3a54" providerId="LiveId" clId="{DA3206CA-A557-472E-B05E-88E52883541F}" dt="2025-12-10T20:52:32.332" v="224" actId="790"/>
          <ac:spMkLst>
            <pc:docMk/>
            <pc:sldMk cId="2416621424" sldId="275"/>
            <ac:spMk id="3" creationId="{A7EC64E8-6F20-6C39-55EF-C41917D8BFCA}"/>
          </ac:spMkLst>
        </pc:spChg>
        <pc:spChg chg="mod">
          <ac:chgData name="Ka Мe" userId="7bdd9d4e209e3a54" providerId="LiveId" clId="{DA3206CA-A557-472E-B05E-88E52883541F}" dt="2025-12-10T20:52:32.332" v="224" actId="790"/>
          <ac:spMkLst>
            <pc:docMk/>
            <pc:sldMk cId="2416621424" sldId="275"/>
            <ac:spMk id="4" creationId="{F9F7E3F6-B8CB-5740-3A28-29371CB0700D}"/>
          </ac:spMkLst>
        </pc:spChg>
        <pc:spChg chg="mod">
          <ac:chgData name="Ka Мe" userId="7bdd9d4e209e3a54" providerId="LiveId" clId="{DA3206CA-A557-472E-B05E-88E52883541F}" dt="2025-12-10T20:52:32.332" v="224" actId="790"/>
          <ac:spMkLst>
            <pc:docMk/>
            <pc:sldMk cId="2416621424" sldId="275"/>
            <ac:spMk id="5" creationId="{786DD204-C28A-D0B7-34B4-D574FE3C2DBB}"/>
          </ac:spMkLst>
        </pc:spChg>
        <pc:spChg chg="mod">
          <ac:chgData name="Ka Мe" userId="7bdd9d4e209e3a54" providerId="LiveId" clId="{DA3206CA-A557-472E-B05E-88E52883541F}" dt="2025-12-10T20:52:32.332" v="224" actId="790"/>
          <ac:spMkLst>
            <pc:docMk/>
            <pc:sldMk cId="2416621424" sldId="275"/>
            <ac:spMk id="6" creationId="{45A2EA81-1DC3-34CF-4FA5-A262FF8BCD86}"/>
          </ac:spMkLst>
        </pc:spChg>
        <pc:spChg chg="mod">
          <ac:chgData name="Ka Мe" userId="7bdd9d4e209e3a54" providerId="LiveId" clId="{DA3206CA-A557-472E-B05E-88E52883541F}" dt="2025-12-10T20:52:32.332" v="224" actId="790"/>
          <ac:spMkLst>
            <pc:docMk/>
            <pc:sldMk cId="2416621424" sldId="275"/>
            <ac:spMk id="7" creationId="{1307AC64-4A64-10FF-862F-8C2BF290D714}"/>
          </ac:spMkLst>
        </pc:spChg>
      </pc:sldChg>
      <pc:sldChg chg="addSp modSp new del mod">
        <pc:chgData name="Ka Мe" userId="7bdd9d4e209e3a54" providerId="LiveId" clId="{DA3206CA-A557-472E-B05E-88E52883541F}" dt="2025-12-10T18:32:04.274" v="41" actId="47"/>
        <pc:sldMkLst>
          <pc:docMk/>
          <pc:sldMk cId="1667666987" sldId="276"/>
        </pc:sldMkLst>
        <pc:spChg chg="add mod">
          <ac:chgData name="Ka Мe" userId="7bdd9d4e209e3a54" providerId="LiveId" clId="{DA3206CA-A557-472E-B05E-88E52883541F}" dt="2025-12-10T18:15:49.618" v="26" actId="2711"/>
          <ac:spMkLst>
            <pc:docMk/>
            <pc:sldMk cId="1667666987" sldId="276"/>
            <ac:spMk id="3" creationId="{77C30528-AFDD-FBA0-F685-53AA0EEB1346}"/>
          </ac:spMkLst>
        </pc:spChg>
        <pc:picChg chg="add mod">
          <ac:chgData name="Ka Мe" userId="7bdd9d4e209e3a54" providerId="LiveId" clId="{DA3206CA-A557-472E-B05E-88E52883541F}" dt="2025-12-10T18:15:55.309" v="27" actId="1076"/>
          <ac:picMkLst>
            <pc:docMk/>
            <pc:sldMk cId="1667666987" sldId="276"/>
            <ac:picMk id="4" creationId="{D7DAB6D0-0AF2-556D-24AA-E215F8D45114}"/>
          </ac:picMkLst>
        </pc:picChg>
      </pc:sldChg>
      <pc:sldChg chg="addSp modSp new mod">
        <pc:chgData name="Ka Мe" userId="7bdd9d4e209e3a54" providerId="LiveId" clId="{DA3206CA-A557-472E-B05E-88E52883541F}" dt="2025-12-11T07:06:07.346" v="233" actId="14100"/>
        <pc:sldMkLst>
          <pc:docMk/>
          <pc:sldMk cId="4050470599" sldId="277"/>
        </pc:sldMkLst>
        <pc:spChg chg="add mod">
          <ac:chgData name="Ka Мe" userId="7bdd9d4e209e3a54" providerId="LiveId" clId="{DA3206CA-A557-472E-B05E-88E52883541F}" dt="2025-12-11T07:05:56.514" v="231" actId="1076"/>
          <ac:spMkLst>
            <pc:docMk/>
            <pc:sldMk cId="4050470599" sldId="277"/>
            <ac:spMk id="3" creationId="{45391921-6D6D-9758-F68B-476B3E532DAF}"/>
          </ac:spMkLst>
        </pc:spChg>
        <pc:picChg chg="add mod">
          <ac:chgData name="Ka Мe" userId="7bdd9d4e209e3a54" providerId="LiveId" clId="{DA3206CA-A557-472E-B05E-88E52883541F}" dt="2025-12-11T07:06:07.346" v="233" actId="14100"/>
          <ac:picMkLst>
            <pc:docMk/>
            <pc:sldMk cId="4050470599" sldId="277"/>
            <ac:picMk id="4" creationId="{1F1FABCF-B19A-4582-C9D4-A2F6EEADD25A}"/>
          </ac:picMkLst>
        </pc:picChg>
      </pc:sldChg>
      <pc:sldChg chg="addSp delSp modSp new mod">
        <pc:chgData name="Ka Мe" userId="7bdd9d4e209e3a54" providerId="LiveId" clId="{DA3206CA-A557-472E-B05E-88E52883541F}" dt="2025-12-10T19:05:04.010" v="174" actId="14100"/>
        <pc:sldMkLst>
          <pc:docMk/>
          <pc:sldMk cId="2229206974" sldId="278"/>
        </pc:sldMkLst>
        <pc:spChg chg="add mod">
          <ac:chgData name="Ka Мe" userId="7bdd9d4e209e3a54" providerId="LiveId" clId="{DA3206CA-A557-472E-B05E-88E52883541F}" dt="2025-12-10T19:04:57.530" v="172" actId="255"/>
          <ac:spMkLst>
            <pc:docMk/>
            <pc:sldMk cId="2229206974" sldId="278"/>
            <ac:spMk id="3" creationId="{02054256-1809-CED7-D6AC-1AC4D7E04EBA}"/>
          </ac:spMkLst>
        </pc:spChg>
        <pc:picChg chg="add del mod">
          <ac:chgData name="Ka Мe" userId="7bdd9d4e209e3a54" providerId="LiveId" clId="{DA3206CA-A557-472E-B05E-88E52883541F}" dt="2025-12-10T18:43:58.179" v="117" actId="478"/>
          <ac:picMkLst>
            <pc:docMk/>
            <pc:sldMk cId="2229206974" sldId="278"/>
            <ac:picMk id="4" creationId="{DB3921F0-DE7B-E39E-34DB-474EE5178F4C}"/>
          </ac:picMkLst>
        </pc:picChg>
        <pc:picChg chg="add del mod">
          <ac:chgData name="Ka Мe" userId="7bdd9d4e209e3a54" providerId="LiveId" clId="{DA3206CA-A557-472E-B05E-88E52883541F}" dt="2025-12-10T18:45:17.849" v="125" actId="478"/>
          <ac:picMkLst>
            <pc:docMk/>
            <pc:sldMk cId="2229206974" sldId="278"/>
            <ac:picMk id="6" creationId="{5B4DBEEB-16A2-9669-B6AE-A27A1B2D55FC}"/>
          </ac:picMkLst>
        </pc:picChg>
        <pc:picChg chg="add mod">
          <ac:chgData name="Ka Мe" userId="7bdd9d4e209e3a54" providerId="LiveId" clId="{DA3206CA-A557-472E-B05E-88E52883541F}" dt="2025-12-10T19:05:04.010" v="174" actId="14100"/>
          <ac:picMkLst>
            <pc:docMk/>
            <pc:sldMk cId="2229206974" sldId="278"/>
            <ac:picMk id="8" creationId="{AAB1AC81-A994-1A42-F7E4-9FB4518F97EB}"/>
          </ac:picMkLst>
        </pc:picChg>
      </pc:sldChg>
      <pc:sldChg chg="addSp modSp new mod">
        <pc:chgData name="Ka Мe" userId="7bdd9d4e209e3a54" providerId="LiveId" clId="{DA3206CA-A557-472E-B05E-88E52883541F}" dt="2025-12-10T20:51:39.924" v="223" actId="1076"/>
        <pc:sldMkLst>
          <pc:docMk/>
          <pc:sldMk cId="585927581" sldId="279"/>
        </pc:sldMkLst>
        <pc:spChg chg="add mod">
          <ac:chgData name="Ka Мe" userId="7bdd9d4e209e3a54" providerId="LiveId" clId="{DA3206CA-A557-472E-B05E-88E52883541F}" dt="2025-12-10T20:51:35.821" v="222" actId="255"/>
          <ac:spMkLst>
            <pc:docMk/>
            <pc:sldMk cId="585927581" sldId="279"/>
            <ac:spMk id="3" creationId="{674DD13A-8EA4-276B-56A6-3C2584A90237}"/>
          </ac:spMkLst>
        </pc:spChg>
        <pc:picChg chg="add mod">
          <ac:chgData name="Ka Мe" userId="7bdd9d4e209e3a54" providerId="LiveId" clId="{DA3206CA-A557-472E-B05E-88E52883541F}" dt="2025-12-10T20:51:39.924" v="223" actId="1076"/>
          <ac:picMkLst>
            <pc:docMk/>
            <pc:sldMk cId="585927581" sldId="279"/>
            <ac:picMk id="4" creationId="{2CA5FFFE-1BE0-EE9D-2325-8365F6E49E3A}"/>
          </ac:picMkLst>
        </pc:picChg>
      </pc:sldChg>
      <pc:sldChg chg="addSp modSp new del mod">
        <pc:chgData name="Ka Мe" userId="7bdd9d4e209e3a54" providerId="LiveId" clId="{DA3206CA-A557-472E-B05E-88E52883541F}" dt="2025-12-10T19:12:18.187" v="203" actId="47"/>
        <pc:sldMkLst>
          <pc:docMk/>
          <pc:sldMk cId="1618517521" sldId="279"/>
        </pc:sldMkLst>
        <pc:spChg chg="add mod">
          <ac:chgData name="Ka Мe" userId="7bdd9d4e209e3a54" providerId="LiveId" clId="{DA3206CA-A557-472E-B05E-88E52883541F}" dt="2025-12-10T19:04:21.927" v="166" actId="20577"/>
          <ac:spMkLst>
            <pc:docMk/>
            <pc:sldMk cId="1618517521" sldId="279"/>
            <ac:spMk id="3" creationId="{E28B3FB7-004A-68CD-92D0-2F3983B854D0}"/>
          </ac:spMkLst>
        </pc:spChg>
        <pc:picChg chg="add mod">
          <ac:chgData name="Ka Мe" userId="7bdd9d4e209e3a54" providerId="LiveId" clId="{DA3206CA-A557-472E-B05E-88E52883541F}" dt="2025-12-10T19:04:24.800" v="167" actId="1076"/>
          <ac:picMkLst>
            <pc:docMk/>
            <pc:sldMk cId="1618517521" sldId="279"/>
            <ac:picMk id="4" creationId="{1EEE87E6-51BF-0AC3-214A-1F6CA3B7C12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2025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4F78509-EF36-EF29-AEF1-3E71C4463F30}"/>
              </a:ext>
            </a:extLst>
          </p:cNvPr>
          <p:cNvSpPr/>
          <p:nvPr/>
        </p:nvSpPr>
        <p:spPr>
          <a:xfrm>
            <a:off x="793790" y="2379702"/>
            <a:ext cx="13042821" cy="1417558"/>
          </a:xfrm>
          <a:prstGeom prst="rect">
            <a:avLst/>
          </a:prstGeom>
          <a:noFill/>
          <a:ln/>
        </p:spPr>
        <p:txBody>
          <a:bodyPr wrap="square" lIns="0" tIns="0" rIns="0" bIns="0" rtlCol="0" anchor="t"/>
          <a:lstStyle/>
          <a:p>
            <a:pPr marL="0" indent="0" algn="l">
              <a:lnSpc>
                <a:spcPts val="5550"/>
              </a:lnSpc>
              <a:buNone/>
            </a:pPr>
            <a:r>
              <a:rPr lang="kk-KZ" sz="4450" noProof="0" dirty="0">
                <a:latin typeface="Crimson Pro Semi Bold" panose="020B0604020202020204" charset="0"/>
                <a:ea typeface="Crimson Pro Semi Bold" pitchFamily="34" charset="-122"/>
                <a:cs typeface="Crimson Pro Semi Bold" pitchFamily="34" charset="-120"/>
              </a:rPr>
              <a:t>«Музыка әлемі» музыкалық аспаптар деректер базасын әзірлеу</a:t>
            </a:r>
            <a:endParaRPr lang="kk-KZ" sz="4450" noProof="0" dirty="0">
              <a:latin typeface="Crimson Pro Semi Bold" panose="020B0604020202020204" charset="0"/>
            </a:endParaRPr>
          </a:p>
        </p:txBody>
      </p:sp>
      <p:sp>
        <p:nvSpPr>
          <p:cNvPr id="3" name="Text 1">
            <a:extLst>
              <a:ext uri="{FF2B5EF4-FFF2-40B4-BE49-F238E27FC236}">
                <a16:creationId xmlns:a16="http://schemas.microsoft.com/office/drawing/2014/main" id="{A5AE4D87-B065-5121-DFE7-6A96CC6B2AF6}"/>
              </a:ext>
            </a:extLst>
          </p:cNvPr>
          <p:cNvSpPr/>
          <p:nvPr/>
        </p:nvSpPr>
        <p:spPr>
          <a:xfrm>
            <a:off x="793788" y="5023774"/>
            <a:ext cx="13042821" cy="1529426"/>
          </a:xfrm>
          <a:prstGeom prst="rect">
            <a:avLst/>
          </a:prstGeom>
          <a:noFill/>
          <a:ln/>
        </p:spPr>
        <p:txBody>
          <a:bodyPr wrap="none" lIns="0" tIns="0" rIns="0" bIns="0" rtlCol="0" anchor="t"/>
          <a:lstStyle/>
          <a:p>
            <a:pPr marL="0" indent="0" algn="l">
              <a:lnSpc>
                <a:spcPts val="2850"/>
              </a:lnSpc>
              <a:buNone/>
            </a:pPr>
            <a:r>
              <a:rPr lang="kk-KZ" sz="1750" noProof="0" dirty="0">
                <a:latin typeface="Crimson Pro Semi Bold" panose="020B0604020202020204" charset="0"/>
                <a:ea typeface="Heebo" pitchFamily="34" charset="-122"/>
                <a:cs typeface="Heebo" pitchFamily="34" charset="-120"/>
              </a:rPr>
              <a:t>Орындаған: Молдаш Нұржан</a:t>
            </a:r>
            <a:endParaRPr lang="kk-KZ" sz="1750" noProof="0" dirty="0">
              <a:latin typeface="Times New Roman" panose="02020603050405020304" pitchFamily="18" charset="0"/>
              <a:ea typeface="Heebo" pitchFamily="34" charset="-122"/>
              <a:cs typeface="Heebo" pitchFamily="34" charset="-120"/>
            </a:endParaRPr>
          </a:p>
          <a:p>
            <a:pPr marL="0" indent="0" algn="l">
              <a:lnSpc>
                <a:spcPts val="2850"/>
              </a:lnSpc>
              <a:buNone/>
            </a:pPr>
            <a:r>
              <a:rPr lang="kk-KZ" sz="1750" noProof="0" dirty="0">
                <a:latin typeface="Crimson Pro Semi Bold" panose="020B0604020202020204" charset="0"/>
                <a:ea typeface="Heebo" pitchFamily="34" charset="-122"/>
                <a:cs typeface="Heebo" pitchFamily="34" charset="-120"/>
              </a:rPr>
              <a:t> Төлеуов Арсен</a:t>
            </a:r>
            <a:endParaRPr lang="kk-KZ" sz="1750" noProof="0" dirty="0">
              <a:latin typeface="Times New Roman" panose="02020603050405020304" pitchFamily="18" charset="0"/>
              <a:ea typeface="Heebo" pitchFamily="34" charset="-122"/>
              <a:cs typeface="Heebo" pitchFamily="34" charset="-120"/>
            </a:endParaRPr>
          </a:p>
          <a:p>
            <a:pPr marL="0" indent="0" algn="l">
              <a:lnSpc>
                <a:spcPts val="2850"/>
              </a:lnSpc>
              <a:buNone/>
            </a:pPr>
            <a:r>
              <a:rPr lang="kk-KZ" sz="1750" noProof="0" dirty="0">
                <a:latin typeface="Crimson Pro Semi Bold" panose="020B0604020202020204" charset="0"/>
                <a:ea typeface="Heebo" pitchFamily="34" charset="-122"/>
                <a:cs typeface="Heebo" pitchFamily="34" charset="-120"/>
              </a:rPr>
              <a:t> Мишиг Мейрамбек </a:t>
            </a:r>
            <a:endParaRPr lang="kk-KZ" sz="1750" noProof="0" dirty="0">
              <a:latin typeface="Times New Roman" panose="02020603050405020304" pitchFamily="18" charset="0"/>
              <a:ea typeface="Heebo" pitchFamily="34" charset="-122"/>
              <a:cs typeface="Heebo" pitchFamily="34" charset="-120"/>
            </a:endParaRPr>
          </a:p>
          <a:p>
            <a:pPr marL="0" indent="0" algn="l">
              <a:lnSpc>
                <a:spcPts val="2850"/>
              </a:lnSpc>
              <a:buNone/>
            </a:pPr>
            <a:r>
              <a:rPr lang="kk-KZ" sz="1750" noProof="0" dirty="0">
                <a:latin typeface="Crimson Pro Semi Bold" panose="020B0604020202020204" charset="0"/>
                <a:ea typeface="Heebo" pitchFamily="34" charset="-122"/>
                <a:cs typeface="Heebo" pitchFamily="34" charset="-120"/>
              </a:rPr>
              <a:t>(ЖИТ, 2-курс, 6В06112)</a:t>
            </a:r>
            <a:endParaRPr lang="kk-KZ" sz="1750" noProof="0" dirty="0">
              <a:latin typeface="Crimson Pro Semi Bold" panose="020B0604020202020204" charset="0"/>
            </a:endParaRPr>
          </a:p>
        </p:txBody>
      </p:sp>
      <p:sp>
        <p:nvSpPr>
          <p:cNvPr id="4" name="Text 2">
            <a:extLst>
              <a:ext uri="{FF2B5EF4-FFF2-40B4-BE49-F238E27FC236}">
                <a16:creationId xmlns:a16="http://schemas.microsoft.com/office/drawing/2014/main" id="{1C0258CA-0F4D-1871-B88B-BFEC89458358}"/>
              </a:ext>
            </a:extLst>
          </p:cNvPr>
          <p:cNvSpPr/>
          <p:nvPr/>
        </p:nvSpPr>
        <p:spPr>
          <a:xfrm>
            <a:off x="793787" y="6564085"/>
            <a:ext cx="13042821" cy="362903"/>
          </a:xfrm>
          <a:prstGeom prst="rect">
            <a:avLst/>
          </a:prstGeom>
          <a:noFill/>
          <a:ln/>
        </p:spPr>
        <p:txBody>
          <a:bodyPr wrap="none" lIns="0" tIns="0" rIns="0" bIns="0" rtlCol="0" anchor="t"/>
          <a:lstStyle/>
          <a:p>
            <a:pPr marL="0" indent="0" algn="l">
              <a:lnSpc>
                <a:spcPts val="2850"/>
              </a:lnSpc>
              <a:buNone/>
            </a:pPr>
            <a:r>
              <a:rPr lang="kk-KZ" sz="1750" noProof="0" dirty="0">
                <a:latin typeface="Crimson Pro Semi Bold" panose="020B0604020202020204" charset="0"/>
                <a:ea typeface="Heebo" pitchFamily="34" charset="-122"/>
                <a:cs typeface="Heebo" pitchFamily="34" charset="-120"/>
              </a:rPr>
              <a:t>Ғылыми жетекші: магистр, аға оқытушы Елибаева Г.К.</a:t>
            </a:r>
            <a:endParaRPr lang="kk-KZ" sz="1750" noProof="0" dirty="0">
              <a:latin typeface="Crimson Pro Semi Bold" panose="020B0604020202020204" charset="0"/>
            </a:endParaRPr>
          </a:p>
        </p:txBody>
      </p:sp>
      <p:sp>
        <p:nvSpPr>
          <p:cNvPr id="10" name="Text 1">
            <a:extLst>
              <a:ext uri="{FF2B5EF4-FFF2-40B4-BE49-F238E27FC236}">
                <a16:creationId xmlns:a16="http://schemas.microsoft.com/office/drawing/2014/main" id="{6C053DB3-E6C8-8294-68C2-40E012A5401C}"/>
              </a:ext>
            </a:extLst>
          </p:cNvPr>
          <p:cNvSpPr/>
          <p:nvPr/>
        </p:nvSpPr>
        <p:spPr>
          <a:xfrm>
            <a:off x="793789" y="3800374"/>
            <a:ext cx="13042821" cy="362903"/>
          </a:xfrm>
          <a:prstGeom prst="rect">
            <a:avLst/>
          </a:prstGeom>
          <a:noFill/>
          <a:ln/>
        </p:spPr>
        <p:txBody>
          <a:bodyPr wrap="none" lIns="0" tIns="0" rIns="0" bIns="0" rtlCol="0" anchor="t"/>
          <a:lstStyle/>
          <a:p>
            <a:pPr marL="0" indent="0" algn="l">
              <a:lnSpc>
                <a:spcPts val="2850"/>
              </a:lnSpc>
              <a:buNone/>
            </a:pPr>
            <a:r>
              <a:rPr lang="kk-KZ" sz="1750" noProof="0" dirty="0">
                <a:latin typeface="Crimson Pro Semi Bold" panose="020B0604020202020204" charset="0"/>
                <a:ea typeface="Heebo" pitchFamily="34" charset="-122"/>
                <a:cs typeface="Heebo" pitchFamily="34" charset="-120"/>
              </a:rPr>
              <a:t>Қазақстан Республикасы Ғылым және жоғары білім министрлігі</a:t>
            </a:r>
            <a:endParaRPr lang="kk-KZ" sz="1750" noProof="0" dirty="0">
              <a:latin typeface="Crimson Pro Semi Bold" panose="020B0604020202020204" charset="0"/>
            </a:endParaRPr>
          </a:p>
        </p:txBody>
      </p:sp>
      <p:sp>
        <p:nvSpPr>
          <p:cNvPr id="11" name="Text 3">
            <a:extLst>
              <a:ext uri="{FF2B5EF4-FFF2-40B4-BE49-F238E27FC236}">
                <a16:creationId xmlns:a16="http://schemas.microsoft.com/office/drawing/2014/main" id="{EBB7B52E-4B5F-FF1B-6DFF-C76A84A27D1C}"/>
              </a:ext>
            </a:extLst>
          </p:cNvPr>
          <p:cNvSpPr/>
          <p:nvPr/>
        </p:nvSpPr>
        <p:spPr>
          <a:xfrm>
            <a:off x="793790" y="4557279"/>
            <a:ext cx="13042821" cy="362903"/>
          </a:xfrm>
          <a:prstGeom prst="rect">
            <a:avLst/>
          </a:prstGeom>
          <a:noFill/>
          <a:ln/>
        </p:spPr>
        <p:txBody>
          <a:bodyPr wrap="none" lIns="0" tIns="0" rIns="0" bIns="0" rtlCol="0" anchor="t"/>
          <a:lstStyle/>
          <a:p>
            <a:pPr marL="0" indent="0" algn="l">
              <a:lnSpc>
                <a:spcPts val="2850"/>
              </a:lnSpc>
              <a:buNone/>
            </a:pPr>
            <a:r>
              <a:rPr lang="kk-KZ" sz="1750" noProof="0" dirty="0">
                <a:latin typeface="Crimson Pro Semi Bold" panose="020B0604020202020204" charset="0"/>
                <a:ea typeface="Heebo" pitchFamily="34" charset="-122"/>
                <a:cs typeface="Heebo" pitchFamily="34" charset="-120"/>
              </a:rPr>
              <a:t>Ақпараттық технологиялар факультеті</a:t>
            </a:r>
            <a:endParaRPr lang="kk-KZ" sz="1750" noProof="0" dirty="0">
              <a:latin typeface="Crimson Pro Semi Bold" panose="020B0604020202020204" charset="0"/>
            </a:endParaRPr>
          </a:p>
        </p:txBody>
      </p:sp>
      <p:sp>
        <p:nvSpPr>
          <p:cNvPr id="12" name="Text 2">
            <a:extLst>
              <a:ext uri="{FF2B5EF4-FFF2-40B4-BE49-F238E27FC236}">
                <a16:creationId xmlns:a16="http://schemas.microsoft.com/office/drawing/2014/main" id="{89492384-1B7F-DEEE-D0E8-715D201DC46D}"/>
              </a:ext>
            </a:extLst>
          </p:cNvPr>
          <p:cNvSpPr/>
          <p:nvPr/>
        </p:nvSpPr>
        <p:spPr>
          <a:xfrm>
            <a:off x="793790" y="4187365"/>
            <a:ext cx="13042821" cy="362903"/>
          </a:xfrm>
          <a:prstGeom prst="rect">
            <a:avLst/>
          </a:prstGeom>
          <a:noFill/>
          <a:ln/>
        </p:spPr>
        <p:txBody>
          <a:bodyPr wrap="none" lIns="0" tIns="0" rIns="0" bIns="0" rtlCol="0" anchor="t"/>
          <a:lstStyle/>
          <a:p>
            <a:pPr marL="0" indent="0" algn="l">
              <a:lnSpc>
                <a:spcPts val="2850"/>
              </a:lnSpc>
              <a:buNone/>
            </a:pPr>
            <a:r>
              <a:rPr lang="kk-KZ" sz="1750" noProof="0" dirty="0">
                <a:latin typeface="Crimson Pro Semi Bold" panose="020B0604020202020204" charset="0"/>
                <a:ea typeface="Heebo" pitchFamily="34" charset="-122"/>
                <a:cs typeface="Heebo" pitchFamily="34" charset="-120"/>
              </a:rPr>
              <a:t>Л.Н. Гумилев атындағы Еуразия ұлттық университеті</a:t>
            </a:r>
            <a:endParaRPr lang="kk-KZ" sz="1750" noProof="0" dirty="0">
              <a:latin typeface="Crimson Pro Semi Bold" panose="020B0604020202020204" charset="0"/>
            </a:endParaRPr>
          </a:p>
        </p:txBody>
      </p:sp>
      <p:pic>
        <p:nvPicPr>
          <p:cNvPr id="14" name="image1.png">
            <a:extLst>
              <a:ext uri="{FF2B5EF4-FFF2-40B4-BE49-F238E27FC236}">
                <a16:creationId xmlns:a16="http://schemas.microsoft.com/office/drawing/2014/main" id="{A1F763C8-8FA9-6B3F-37CC-2CB8F44CC5D5}"/>
              </a:ext>
            </a:extLst>
          </p:cNvPr>
          <p:cNvPicPr/>
          <p:nvPr/>
        </p:nvPicPr>
        <p:blipFill>
          <a:blip r:embed="rId2"/>
          <a:srcRect/>
          <a:stretch>
            <a:fillRect/>
          </a:stretch>
        </p:blipFill>
        <p:spPr>
          <a:xfrm>
            <a:off x="4729978" y="494914"/>
            <a:ext cx="4074795" cy="1689735"/>
          </a:xfrm>
          <a:prstGeom prst="rect">
            <a:avLst/>
          </a:prstGeom>
          <a:ln/>
        </p:spPr>
      </p:pic>
    </p:spTree>
    <p:extLst>
      <p:ext uri="{BB962C8B-B14F-4D97-AF65-F5344CB8AC3E}">
        <p14:creationId xmlns:p14="http://schemas.microsoft.com/office/powerpoint/2010/main" val="794998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D5A62A1-5E95-0C0D-495C-60C53B25DFE2}"/>
              </a:ext>
            </a:extLst>
          </p:cNvPr>
          <p:cNvSpPr/>
          <p:nvPr/>
        </p:nvSpPr>
        <p:spPr>
          <a:xfrm>
            <a:off x="793790" y="1456134"/>
            <a:ext cx="6176486" cy="708779"/>
          </a:xfrm>
          <a:prstGeom prst="rect">
            <a:avLst/>
          </a:prstGeom>
          <a:noFill/>
          <a:ln/>
        </p:spPr>
        <p:txBody>
          <a:bodyPr wrap="none" lIns="0" tIns="0" rIns="0" bIns="0" rtlCol="0" anchor="t"/>
          <a:lstStyle/>
          <a:p>
            <a:pPr marL="0" indent="0" algn="l">
              <a:lnSpc>
                <a:spcPts val="5550"/>
              </a:lnSpc>
              <a:buNone/>
            </a:pPr>
            <a:r>
              <a:rPr lang="en-US" sz="4450" dirty="0">
                <a:latin typeface="Crimson Pro Semi Bold" panose="020B0604020202020204" charset="0"/>
                <a:ea typeface="Crimson Pro Semi Bold" pitchFamily="34" charset="-122"/>
                <a:cs typeface="Crimson Pro Semi Bold" pitchFamily="34" charset="-120"/>
              </a:rPr>
              <a:t>Тақырыптың өзектілігі</a:t>
            </a:r>
            <a:endParaRPr lang="en-US" sz="4450" dirty="0">
              <a:latin typeface="Crimson Pro Semi Bold" panose="020B0604020202020204" charset="0"/>
            </a:endParaRPr>
          </a:p>
        </p:txBody>
      </p:sp>
      <p:sp>
        <p:nvSpPr>
          <p:cNvPr id="3" name="Text 1">
            <a:extLst>
              <a:ext uri="{FF2B5EF4-FFF2-40B4-BE49-F238E27FC236}">
                <a16:creationId xmlns:a16="http://schemas.microsoft.com/office/drawing/2014/main" id="{FECA8EAD-6DAC-2E9A-C998-F0177CB5250B}"/>
              </a:ext>
            </a:extLst>
          </p:cNvPr>
          <p:cNvSpPr/>
          <p:nvPr/>
        </p:nvSpPr>
        <p:spPr>
          <a:xfrm>
            <a:off x="793790" y="2618542"/>
            <a:ext cx="13042821" cy="362903"/>
          </a:xfrm>
          <a:prstGeom prst="rect">
            <a:avLst/>
          </a:prstGeom>
          <a:noFill/>
          <a:ln/>
        </p:spPr>
        <p:txBody>
          <a:bodyPr wrap="non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Қазіргі заманда кез келген ұйымның тиімді жұмысы ақпаратты дұрыс жинауға, сақтауға және өңдеуге байланысты.</a:t>
            </a:r>
            <a:endParaRPr lang="en-US" sz="1750" dirty="0">
              <a:latin typeface="Crimson Pro Semi Bold" panose="020B0604020202020204" charset="0"/>
            </a:endParaRPr>
          </a:p>
        </p:txBody>
      </p:sp>
      <p:sp>
        <p:nvSpPr>
          <p:cNvPr id="4" name="Shape 2">
            <a:extLst>
              <a:ext uri="{FF2B5EF4-FFF2-40B4-BE49-F238E27FC236}">
                <a16:creationId xmlns:a16="http://schemas.microsoft.com/office/drawing/2014/main" id="{FBA2B1AE-8A2A-0F2C-34E6-3CD2F9B2DDCF}"/>
              </a:ext>
            </a:extLst>
          </p:cNvPr>
          <p:cNvSpPr/>
          <p:nvPr/>
        </p:nvSpPr>
        <p:spPr>
          <a:xfrm>
            <a:off x="793790" y="3236595"/>
            <a:ext cx="4196358" cy="3536752"/>
          </a:xfrm>
          <a:prstGeom prst="roundRect">
            <a:avLst>
              <a:gd name="adj" fmla="val 4137"/>
            </a:avLst>
          </a:prstGeom>
          <a:solidFill>
            <a:srgbClr val="FFFFFF"/>
          </a:solidFill>
          <a:ln w="30480">
            <a:solidFill>
              <a:srgbClr val="D8D4D4"/>
            </a:solidFill>
            <a:prstDash val="solid"/>
          </a:ln>
        </p:spPr>
        <p:txBody>
          <a:bodyPr/>
          <a:lstStyle/>
          <a:p>
            <a:endParaRPr lang="en-US">
              <a:latin typeface="Crimson Pro Semi Bold" panose="020B0604020202020204" charset="0"/>
            </a:endParaRPr>
          </a:p>
        </p:txBody>
      </p:sp>
      <p:sp>
        <p:nvSpPr>
          <p:cNvPr id="6" name="Text 4">
            <a:extLst>
              <a:ext uri="{FF2B5EF4-FFF2-40B4-BE49-F238E27FC236}">
                <a16:creationId xmlns:a16="http://schemas.microsoft.com/office/drawing/2014/main" id="{D02158F7-88B0-2661-4E04-364F98B9E86A}"/>
              </a:ext>
            </a:extLst>
          </p:cNvPr>
          <p:cNvSpPr/>
          <p:nvPr/>
        </p:nvSpPr>
        <p:spPr>
          <a:xfrm>
            <a:off x="1142524" y="3493889"/>
            <a:ext cx="2835235" cy="354330"/>
          </a:xfrm>
          <a:prstGeom prst="rect">
            <a:avLst/>
          </a:prstGeom>
          <a:noFill/>
          <a:ln/>
        </p:spPr>
        <p:txBody>
          <a:bodyPr wrap="none" lIns="0" tIns="0" rIns="0" bIns="0" rtlCol="0" anchor="t"/>
          <a:lstStyle/>
          <a:p>
            <a:pPr marL="0" indent="0" algn="l">
              <a:lnSpc>
                <a:spcPts val="2750"/>
              </a:lnSpc>
              <a:buNone/>
            </a:pPr>
            <a:r>
              <a:rPr lang="en-US" sz="2200" dirty="0">
                <a:latin typeface="Crimson Pro Semi Bold" panose="020B0604020202020204" charset="0"/>
                <a:ea typeface="Crimson Pro Semi Bold" pitchFamily="34" charset="-122"/>
                <a:cs typeface="Crimson Pro Semi Bold" pitchFamily="34" charset="-120"/>
              </a:rPr>
              <a:t>Деректер ағыны</a:t>
            </a:r>
            <a:endParaRPr lang="en-US" sz="2200" dirty="0">
              <a:latin typeface="Crimson Pro Semi Bold" panose="020B0604020202020204" charset="0"/>
            </a:endParaRPr>
          </a:p>
        </p:txBody>
      </p:sp>
      <p:sp>
        <p:nvSpPr>
          <p:cNvPr id="7" name="Text 5">
            <a:extLst>
              <a:ext uri="{FF2B5EF4-FFF2-40B4-BE49-F238E27FC236}">
                <a16:creationId xmlns:a16="http://schemas.microsoft.com/office/drawing/2014/main" id="{8C6930F6-EDED-F906-D198-FEA2A2C64EE2}"/>
              </a:ext>
            </a:extLst>
          </p:cNvPr>
          <p:cNvSpPr/>
          <p:nvPr/>
        </p:nvSpPr>
        <p:spPr>
          <a:xfrm>
            <a:off x="1142524" y="3984308"/>
            <a:ext cx="3590330" cy="1814513"/>
          </a:xfrm>
          <a:prstGeom prst="rect">
            <a:avLst/>
          </a:prstGeom>
          <a:noFill/>
          <a:ln/>
        </p:spPr>
        <p:txBody>
          <a:bodyPr wrap="squar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Музыкалық аспаптар дүкенінде күн сайын жаңа аспаптар келеді, бағалар өзгереді, клиенттер мен сатылымдар артады.</a:t>
            </a:r>
            <a:endParaRPr lang="en-US" sz="1750" dirty="0">
              <a:latin typeface="Crimson Pro Semi Bold" panose="020B0604020202020204" charset="0"/>
            </a:endParaRPr>
          </a:p>
        </p:txBody>
      </p:sp>
      <p:sp>
        <p:nvSpPr>
          <p:cNvPr id="8" name="Shape 6">
            <a:extLst>
              <a:ext uri="{FF2B5EF4-FFF2-40B4-BE49-F238E27FC236}">
                <a16:creationId xmlns:a16="http://schemas.microsoft.com/office/drawing/2014/main" id="{6365EDA8-DE8A-B28F-13F5-EA7D62B4E311}"/>
              </a:ext>
            </a:extLst>
          </p:cNvPr>
          <p:cNvSpPr/>
          <p:nvPr/>
        </p:nvSpPr>
        <p:spPr>
          <a:xfrm>
            <a:off x="5216962" y="3236595"/>
            <a:ext cx="4196358" cy="3536752"/>
          </a:xfrm>
          <a:prstGeom prst="roundRect">
            <a:avLst>
              <a:gd name="adj" fmla="val 4137"/>
            </a:avLst>
          </a:prstGeom>
          <a:solidFill>
            <a:srgbClr val="FFFFFF"/>
          </a:solidFill>
          <a:ln w="30480">
            <a:solidFill>
              <a:srgbClr val="D8D4D4"/>
            </a:solidFill>
            <a:prstDash val="solid"/>
          </a:ln>
        </p:spPr>
        <p:txBody>
          <a:bodyPr/>
          <a:lstStyle/>
          <a:p>
            <a:endParaRPr lang="en-US">
              <a:latin typeface="Crimson Pro Semi Bold" panose="020B0604020202020204" charset="0"/>
            </a:endParaRPr>
          </a:p>
        </p:txBody>
      </p:sp>
      <p:sp>
        <p:nvSpPr>
          <p:cNvPr id="10" name="Text 8">
            <a:extLst>
              <a:ext uri="{FF2B5EF4-FFF2-40B4-BE49-F238E27FC236}">
                <a16:creationId xmlns:a16="http://schemas.microsoft.com/office/drawing/2014/main" id="{FEE29E4E-B930-C4E7-CD26-54D818BB32FA}"/>
              </a:ext>
            </a:extLst>
          </p:cNvPr>
          <p:cNvSpPr/>
          <p:nvPr/>
        </p:nvSpPr>
        <p:spPr>
          <a:xfrm>
            <a:off x="5565696" y="3493889"/>
            <a:ext cx="3590330" cy="708660"/>
          </a:xfrm>
          <a:prstGeom prst="rect">
            <a:avLst/>
          </a:prstGeom>
          <a:noFill/>
          <a:ln/>
        </p:spPr>
        <p:txBody>
          <a:bodyPr wrap="square" lIns="0" tIns="0" rIns="0" bIns="0" rtlCol="0" anchor="t"/>
          <a:lstStyle/>
          <a:p>
            <a:pPr marL="0" indent="0" algn="l">
              <a:lnSpc>
                <a:spcPts val="2750"/>
              </a:lnSpc>
              <a:buNone/>
            </a:pPr>
            <a:r>
              <a:rPr lang="en-US" sz="2200" dirty="0">
                <a:latin typeface="Crimson Pro Semi Bold" panose="020B0604020202020204" charset="0"/>
                <a:ea typeface="Crimson Pro Semi Bold" pitchFamily="34" charset="-122"/>
                <a:cs typeface="Crimson Pro Semi Bold" pitchFamily="34" charset="-120"/>
              </a:rPr>
              <a:t>Қолмен басқару қиындығы</a:t>
            </a:r>
            <a:endParaRPr lang="en-US" sz="2200" dirty="0">
              <a:latin typeface="Crimson Pro Semi Bold" panose="020B0604020202020204" charset="0"/>
            </a:endParaRPr>
          </a:p>
        </p:txBody>
      </p:sp>
      <p:sp>
        <p:nvSpPr>
          <p:cNvPr id="11" name="Text 9">
            <a:extLst>
              <a:ext uri="{FF2B5EF4-FFF2-40B4-BE49-F238E27FC236}">
                <a16:creationId xmlns:a16="http://schemas.microsoft.com/office/drawing/2014/main" id="{5712C532-1D8D-3280-F5BA-09832503ACD0}"/>
              </a:ext>
            </a:extLst>
          </p:cNvPr>
          <p:cNvSpPr/>
          <p:nvPr/>
        </p:nvSpPr>
        <p:spPr>
          <a:xfrm>
            <a:off x="5565696" y="4338638"/>
            <a:ext cx="3590330" cy="2177415"/>
          </a:xfrm>
          <a:prstGeom prst="rect">
            <a:avLst/>
          </a:prstGeom>
          <a:noFill/>
          <a:ln/>
        </p:spPr>
        <p:txBody>
          <a:bodyPr wrap="squar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Бұл мәліметтерді қолмен немесе Excel арқылы жүргізу қателіктерге, іздеу қиындықтарына және өнімділіктің төмендеуіне әкеледі.</a:t>
            </a:r>
            <a:endParaRPr lang="en-US" sz="1750" dirty="0">
              <a:latin typeface="Crimson Pro Semi Bold" panose="020B0604020202020204" charset="0"/>
            </a:endParaRPr>
          </a:p>
        </p:txBody>
      </p:sp>
      <p:sp>
        <p:nvSpPr>
          <p:cNvPr id="12" name="Shape 10">
            <a:extLst>
              <a:ext uri="{FF2B5EF4-FFF2-40B4-BE49-F238E27FC236}">
                <a16:creationId xmlns:a16="http://schemas.microsoft.com/office/drawing/2014/main" id="{45C1D94E-8743-703B-4F05-B6C30C979348}"/>
              </a:ext>
            </a:extLst>
          </p:cNvPr>
          <p:cNvSpPr/>
          <p:nvPr/>
        </p:nvSpPr>
        <p:spPr>
          <a:xfrm>
            <a:off x="9640133" y="3236595"/>
            <a:ext cx="4196358" cy="3536752"/>
          </a:xfrm>
          <a:prstGeom prst="roundRect">
            <a:avLst>
              <a:gd name="adj" fmla="val 4137"/>
            </a:avLst>
          </a:prstGeom>
          <a:solidFill>
            <a:srgbClr val="FFFFFF"/>
          </a:solidFill>
          <a:ln w="30480">
            <a:solidFill>
              <a:srgbClr val="D8D4D4"/>
            </a:solidFill>
            <a:prstDash val="solid"/>
          </a:ln>
        </p:spPr>
        <p:txBody>
          <a:bodyPr/>
          <a:lstStyle/>
          <a:p>
            <a:endParaRPr lang="en-US">
              <a:latin typeface="Crimson Pro Semi Bold" panose="020B0604020202020204" charset="0"/>
            </a:endParaRPr>
          </a:p>
        </p:txBody>
      </p:sp>
      <p:sp>
        <p:nvSpPr>
          <p:cNvPr id="14" name="Text 12">
            <a:extLst>
              <a:ext uri="{FF2B5EF4-FFF2-40B4-BE49-F238E27FC236}">
                <a16:creationId xmlns:a16="http://schemas.microsoft.com/office/drawing/2014/main" id="{3FEA408D-C553-93CC-DB46-76DD8C371F2C}"/>
              </a:ext>
            </a:extLst>
          </p:cNvPr>
          <p:cNvSpPr/>
          <p:nvPr/>
        </p:nvSpPr>
        <p:spPr>
          <a:xfrm>
            <a:off x="9988868" y="3493889"/>
            <a:ext cx="2835235" cy="354330"/>
          </a:xfrm>
          <a:prstGeom prst="rect">
            <a:avLst/>
          </a:prstGeom>
          <a:noFill/>
          <a:ln/>
        </p:spPr>
        <p:txBody>
          <a:bodyPr wrap="none" lIns="0" tIns="0" rIns="0" bIns="0" rtlCol="0" anchor="t"/>
          <a:lstStyle/>
          <a:p>
            <a:pPr marL="0" indent="0" algn="l">
              <a:lnSpc>
                <a:spcPts val="2750"/>
              </a:lnSpc>
              <a:buNone/>
            </a:pPr>
            <a:r>
              <a:rPr lang="en-US" sz="2200" dirty="0">
                <a:latin typeface="Crimson Pro Semi Bold" panose="020B0604020202020204" charset="0"/>
                <a:ea typeface="Crimson Pro Semi Bold" pitchFamily="34" charset="-122"/>
                <a:cs typeface="Crimson Pro Semi Bold" pitchFamily="34" charset="-120"/>
              </a:rPr>
              <a:t>Шешім</a:t>
            </a:r>
            <a:endParaRPr lang="en-US" sz="2200" dirty="0">
              <a:latin typeface="Crimson Pro Semi Bold" panose="020B0604020202020204" charset="0"/>
            </a:endParaRPr>
          </a:p>
        </p:txBody>
      </p:sp>
      <p:sp>
        <p:nvSpPr>
          <p:cNvPr id="15" name="Text 13">
            <a:extLst>
              <a:ext uri="{FF2B5EF4-FFF2-40B4-BE49-F238E27FC236}">
                <a16:creationId xmlns:a16="http://schemas.microsoft.com/office/drawing/2014/main" id="{A1760D37-AA7B-6890-CEE8-C66C424BC8C6}"/>
              </a:ext>
            </a:extLst>
          </p:cNvPr>
          <p:cNvSpPr/>
          <p:nvPr/>
        </p:nvSpPr>
        <p:spPr>
          <a:xfrm>
            <a:off x="9988868" y="3984308"/>
            <a:ext cx="3590330" cy="1814513"/>
          </a:xfrm>
          <a:prstGeom prst="rect">
            <a:avLst/>
          </a:prstGeom>
          <a:noFill/>
          <a:ln/>
        </p:spPr>
        <p:txBody>
          <a:bodyPr wrap="squar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Музыкалық дүкен қызметін автоматтандыратын, ақпаратты орталықтан басқаратын сенімді реляциялық деректер базасын құру өте өзекті.</a:t>
            </a:r>
            <a:endParaRPr lang="en-US" sz="1750" dirty="0">
              <a:latin typeface="Crimson Pro Semi Bold" panose="020B0604020202020204" charset="0"/>
            </a:endParaRPr>
          </a:p>
        </p:txBody>
      </p:sp>
    </p:spTree>
    <p:extLst>
      <p:ext uri="{BB962C8B-B14F-4D97-AF65-F5344CB8AC3E}">
        <p14:creationId xmlns:p14="http://schemas.microsoft.com/office/powerpoint/2010/main" val="2188075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932CDE6-B329-D2BB-98A2-79FF57857666}"/>
              </a:ext>
            </a:extLst>
          </p:cNvPr>
          <p:cNvSpPr/>
          <p:nvPr/>
        </p:nvSpPr>
        <p:spPr>
          <a:xfrm>
            <a:off x="793790" y="1311235"/>
            <a:ext cx="9283184" cy="708779"/>
          </a:xfrm>
          <a:prstGeom prst="rect">
            <a:avLst/>
          </a:prstGeom>
          <a:noFill/>
          <a:ln/>
        </p:spPr>
        <p:txBody>
          <a:bodyPr wrap="none" lIns="0" tIns="0" rIns="0" bIns="0" rtlCol="0" anchor="t"/>
          <a:lstStyle/>
          <a:p>
            <a:pPr marL="0" indent="0" algn="l">
              <a:lnSpc>
                <a:spcPts val="5550"/>
              </a:lnSpc>
              <a:buNone/>
            </a:pPr>
            <a:r>
              <a:rPr lang="en-US" sz="4450" dirty="0">
                <a:latin typeface="Crimson Pro Semi Bold" panose="020B0604020202020204" charset="0"/>
                <a:ea typeface="Crimson Pro Semi Bold" pitchFamily="34" charset="-122"/>
                <a:cs typeface="Crimson Pro Semi Bold" pitchFamily="34" charset="-120"/>
              </a:rPr>
              <a:t>Жобаның мақсаты мен міндеттері</a:t>
            </a:r>
            <a:endParaRPr lang="en-US" sz="4450" dirty="0">
              <a:latin typeface="Crimson Pro Semi Bold" panose="020B0604020202020204" charset="0"/>
            </a:endParaRPr>
          </a:p>
        </p:txBody>
      </p:sp>
      <p:sp>
        <p:nvSpPr>
          <p:cNvPr id="3" name="Text 1">
            <a:extLst>
              <a:ext uri="{FF2B5EF4-FFF2-40B4-BE49-F238E27FC236}">
                <a16:creationId xmlns:a16="http://schemas.microsoft.com/office/drawing/2014/main" id="{20D9F573-A6F8-1A46-ADA0-4362FE48823B}"/>
              </a:ext>
            </a:extLst>
          </p:cNvPr>
          <p:cNvSpPr/>
          <p:nvPr/>
        </p:nvSpPr>
        <p:spPr>
          <a:xfrm>
            <a:off x="793790" y="2586990"/>
            <a:ext cx="4536519" cy="566976"/>
          </a:xfrm>
          <a:prstGeom prst="rect">
            <a:avLst/>
          </a:prstGeom>
          <a:noFill/>
          <a:ln/>
        </p:spPr>
        <p:txBody>
          <a:bodyPr wrap="none" lIns="0" tIns="0" rIns="0" bIns="0" rtlCol="0" anchor="t"/>
          <a:lstStyle/>
          <a:p>
            <a:pPr marL="0" indent="0" algn="l">
              <a:lnSpc>
                <a:spcPts val="4450"/>
              </a:lnSpc>
              <a:buNone/>
            </a:pPr>
            <a:r>
              <a:rPr lang="en-US" sz="3550" dirty="0">
                <a:latin typeface="Crimson Pro Semi Bold" panose="020B0604020202020204" charset="0"/>
                <a:ea typeface="Crimson Pro Semi Bold" pitchFamily="34" charset="-122"/>
                <a:cs typeface="Crimson Pro Semi Bold" pitchFamily="34" charset="-120"/>
              </a:rPr>
              <a:t>Мақсаты</a:t>
            </a:r>
            <a:endParaRPr lang="en-US" sz="3550" dirty="0">
              <a:latin typeface="Crimson Pro Semi Bold" panose="020B0604020202020204" charset="0"/>
            </a:endParaRPr>
          </a:p>
        </p:txBody>
      </p:sp>
      <p:sp>
        <p:nvSpPr>
          <p:cNvPr id="4" name="Text 2">
            <a:extLst>
              <a:ext uri="{FF2B5EF4-FFF2-40B4-BE49-F238E27FC236}">
                <a16:creationId xmlns:a16="http://schemas.microsoft.com/office/drawing/2014/main" id="{DA35BCAB-AEB1-27FC-42AD-6C83C7D9426B}"/>
              </a:ext>
            </a:extLst>
          </p:cNvPr>
          <p:cNvSpPr/>
          <p:nvPr/>
        </p:nvSpPr>
        <p:spPr>
          <a:xfrm>
            <a:off x="793790" y="3380780"/>
            <a:ext cx="4885015" cy="1814513"/>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en-US" sz="1750" dirty="0">
                <a:latin typeface="Crimson Pro Semi Bold" panose="020B0604020202020204" charset="0"/>
                <a:ea typeface="Heebo" pitchFamily="34" charset="-122"/>
                <a:cs typeface="Heebo" pitchFamily="34" charset="-120"/>
              </a:rPr>
              <a:t>Музыкалық аспаптар дүкенінің мәліметтерін толық автоматтандыратын, іздеу, өңдеу, сақтау және талдау мүмкіндігін беретін реляциялық деректер базасын жобалау.</a:t>
            </a:r>
            <a:endParaRPr lang="en-US" sz="1750" dirty="0">
              <a:latin typeface="Crimson Pro Semi Bold" panose="020B0604020202020204" charset="0"/>
            </a:endParaRPr>
          </a:p>
        </p:txBody>
      </p:sp>
      <p:sp>
        <p:nvSpPr>
          <p:cNvPr id="5" name="Text 3">
            <a:extLst>
              <a:ext uri="{FF2B5EF4-FFF2-40B4-BE49-F238E27FC236}">
                <a16:creationId xmlns:a16="http://schemas.microsoft.com/office/drawing/2014/main" id="{D3E7422B-E24A-D975-BDBC-B39076B17FA4}"/>
              </a:ext>
            </a:extLst>
          </p:cNvPr>
          <p:cNvSpPr/>
          <p:nvPr/>
        </p:nvSpPr>
        <p:spPr>
          <a:xfrm>
            <a:off x="6239828" y="2586990"/>
            <a:ext cx="4536519" cy="566976"/>
          </a:xfrm>
          <a:prstGeom prst="rect">
            <a:avLst/>
          </a:prstGeom>
          <a:noFill/>
          <a:ln/>
        </p:spPr>
        <p:txBody>
          <a:bodyPr wrap="none" lIns="0" tIns="0" rIns="0" bIns="0" rtlCol="0" anchor="t"/>
          <a:lstStyle/>
          <a:p>
            <a:pPr marL="0" indent="0" algn="l">
              <a:lnSpc>
                <a:spcPts val="4450"/>
              </a:lnSpc>
              <a:buNone/>
            </a:pPr>
            <a:r>
              <a:rPr lang="en-US" sz="3550" dirty="0">
                <a:latin typeface="Crimson Pro Semi Bold" panose="020B0604020202020204" charset="0"/>
                <a:ea typeface="Crimson Pro Semi Bold" pitchFamily="34" charset="-122"/>
                <a:cs typeface="Crimson Pro Semi Bold" pitchFamily="34" charset="-120"/>
              </a:rPr>
              <a:t>Міндеттері</a:t>
            </a:r>
            <a:endParaRPr lang="en-US" sz="3550" dirty="0">
              <a:latin typeface="Crimson Pro Semi Bold" panose="020B0604020202020204" charset="0"/>
            </a:endParaRPr>
          </a:p>
        </p:txBody>
      </p:sp>
      <p:sp>
        <p:nvSpPr>
          <p:cNvPr id="6" name="Text 4">
            <a:extLst>
              <a:ext uri="{FF2B5EF4-FFF2-40B4-BE49-F238E27FC236}">
                <a16:creationId xmlns:a16="http://schemas.microsoft.com/office/drawing/2014/main" id="{B5271486-DB8F-88B7-FA38-6D8C0B8C887A}"/>
              </a:ext>
            </a:extLst>
          </p:cNvPr>
          <p:cNvSpPr/>
          <p:nvPr/>
        </p:nvSpPr>
        <p:spPr>
          <a:xfrm>
            <a:off x="6239828" y="3380780"/>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Дүкеннің ақпараттық жүйесіне талдау жасау</a:t>
            </a:r>
            <a:endParaRPr lang="en-US" sz="1750" dirty="0">
              <a:latin typeface="Crimson Pro Semi Bold" panose="020B0604020202020204" charset="0"/>
            </a:endParaRPr>
          </a:p>
        </p:txBody>
      </p:sp>
      <p:sp>
        <p:nvSpPr>
          <p:cNvPr id="7" name="Text 5">
            <a:extLst>
              <a:ext uri="{FF2B5EF4-FFF2-40B4-BE49-F238E27FC236}">
                <a16:creationId xmlns:a16="http://schemas.microsoft.com/office/drawing/2014/main" id="{35840A5D-43DE-3C47-E6EF-A620D6D8A4B7}"/>
              </a:ext>
            </a:extLst>
          </p:cNvPr>
          <p:cNvSpPr/>
          <p:nvPr/>
        </p:nvSpPr>
        <p:spPr>
          <a:xfrm>
            <a:off x="6239828" y="3822978"/>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Негізгі объектілер мен байланыстарды анықтау</a:t>
            </a:r>
            <a:endParaRPr lang="en-US" sz="1750" dirty="0">
              <a:latin typeface="Crimson Pro Semi Bold" panose="020B0604020202020204" charset="0"/>
            </a:endParaRPr>
          </a:p>
        </p:txBody>
      </p:sp>
      <p:sp>
        <p:nvSpPr>
          <p:cNvPr id="8" name="Text 6">
            <a:extLst>
              <a:ext uri="{FF2B5EF4-FFF2-40B4-BE49-F238E27FC236}">
                <a16:creationId xmlns:a16="http://schemas.microsoft.com/office/drawing/2014/main" id="{C0876B6A-F0C7-80CF-D02C-6FCCF25D7D05}"/>
              </a:ext>
            </a:extLst>
          </p:cNvPr>
          <p:cNvSpPr/>
          <p:nvPr/>
        </p:nvSpPr>
        <p:spPr>
          <a:xfrm>
            <a:off x="6239828" y="4265176"/>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ER-диаграмма түрінде логикалық модель құру</a:t>
            </a:r>
            <a:endParaRPr lang="en-US" sz="1750" dirty="0">
              <a:latin typeface="Crimson Pro Semi Bold" panose="020B0604020202020204" charset="0"/>
            </a:endParaRPr>
          </a:p>
        </p:txBody>
      </p:sp>
      <p:sp>
        <p:nvSpPr>
          <p:cNvPr id="9" name="Text 7">
            <a:extLst>
              <a:ext uri="{FF2B5EF4-FFF2-40B4-BE49-F238E27FC236}">
                <a16:creationId xmlns:a16="http://schemas.microsoft.com/office/drawing/2014/main" id="{638A6F92-413A-AAAA-89C3-30C2323E995B}"/>
              </a:ext>
            </a:extLst>
          </p:cNvPr>
          <p:cNvSpPr/>
          <p:nvPr/>
        </p:nvSpPr>
        <p:spPr>
          <a:xfrm>
            <a:off x="6239828" y="4707374"/>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Кестелер құрылымын жасау (Aspap, Klient, Satylym т.б.)</a:t>
            </a:r>
            <a:endParaRPr lang="en-US" sz="1750" dirty="0">
              <a:latin typeface="Crimson Pro Semi Bold" panose="020B0604020202020204" charset="0"/>
            </a:endParaRPr>
          </a:p>
        </p:txBody>
      </p:sp>
      <p:sp>
        <p:nvSpPr>
          <p:cNvPr id="10" name="Text 8">
            <a:extLst>
              <a:ext uri="{FF2B5EF4-FFF2-40B4-BE49-F238E27FC236}">
                <a16:creationId xmlns:a16="http://schemas.microsoft.com/office/drawing/2014/main" id="{A935218C-7959-EBA2-6CB0-8428379372EE}"/>
              </a:ext>
            </a:extLst>
          </p:cNvPr>
          <p:cNvSpPr/>
          <p:nvPr/>
        </p:nvSpPr>
        <p:spPr>
          <a:xfrm>
            <a:off x="6239828" y="5149572"/>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SQLite негізінде кестелерді құру және шектеулер орнату</a:t>
            </a:r>
            <a:endParaRPr lang="en-US" sz="1750" dirty="0">
              <a:latin typeface="Crimson Pro Semi Bold" panose="020B0604020202020204" charset="0"/>
            </a:endParaRPr>
          </a:p>
        </p:txBody>
      </p:sp>
      <p:sp>
        <p:nvSpPr>
          <p:cNvPr id="11" name="Text 9">
            <a:extLst>
              <a:ext uri="{FF2B5EF4-FFF2-40B4-BE49-F238E27FC236}">
                <a16:creationId xmlns:a16="http://schemas.microsoft.com/office/drawing/2014/main" id="{422FA54B-397F-1A04-9DEB-374F37CE0F2F}"/>
              </a:ext>
            </a:extLst>
          </p:cNvPr>
          <p:cNvSpPr/>
          <p:nvPr/>
        </p:nvSpPr>
        <p:spPr>
          <a:xfrm>
            <a:off x="6239828" y="5591770"/>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SQL сұратымдарын жазу (сұрыптау, топтау, біріктіру)</a:t>
            </a:r>
            <a:endParaRPr lang="en-US" sz="1750" dirty="0">
              <a:latin typeface="Crimson Pro Semi Bold" panose="020B0604020202020204" charset="0"/>
            </a:endParaRPr>
          </a:p>
        </p:txBody>
      </p:sp>
      <p:sp>
        <p:nvSpPr>
          <p:cNvPr id="12" name="Text 10">
            <a:extLst>
              <a:ext uri="{FF2B5EF4-FFF2-40B4-BE49-F238E27FC236}">
                <a16:creationId xmlns:a16="http://schemas.microsoft.com/office/drawing/2014/main" id="{B42382F6-7D0C-1E1A-ABED-D2A878E3E7D6}"/>
              </a:ext>
            </a:extLst>
          </p:cNvPr>
          <p:cNvSpPr/>
          <p:nvPr/>
        </p:nvSpPr>
        <p:spPr>
          <a:xfrm>
            <a:off x="6239828" y="6033968"/>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ДБ-мен жұмыс істейтін веб-қосымша құру</a:t>
            </a:r>
            <a:endParaRPr lang="en-US" sz="1750" dirty="0">
              <a:latin typeface="Crimson Pro Semi Bold" panose="020B0604020202020204" charset="0"/>
            </a:endParaRPr>
          </a:p>
        </p:txBody>
      </p:sp>
      <p:sp>
        <p:nvSpPr>
          <p:cNvPr id="13" name="Text 11">
            <a:extLst>
              <a:ext uri="{FF2B5EF4-FFF2-40B4-BE49-F238E27FC236}">
                <a16:creationId xmlns:a16="http://schemas.microsoft.com/office/drawing/2014/main" id="{DA1F4516-0FC1-C24B-35B7-12DEAD1604E9}"/>
              </a:ext>
            </a:extLst>
          </p:cNvPr>
          <p:cNvSpPr/>
          <p:nvPr/>
        </p:nvSpPr>
        <p:spPr>
          <a:xfrm>
            <a:off x="6239828" y="6476167"/>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Деректердің тұтастығы мен қауіпсіздігін қамтамасыз ету</a:t>
            </a:r>
            <a:endParaRPr lang="en-US" sz="1750" dirty="0">
              <a:latin typeface="Crimson Pro Semi Bold" panose="020B0604020202020204" charset="0"/>
            </a:endParaRPr>
          </a:p>
        </p:txBody>
      </p:sp>
    </p:spTree>
    <p:extLst>
      <p:ext uri="{BB962C8B-B14F-4D97-AF65-F5344CB8AC3E}">
        <p14:creationId xmlns:p14="http://schemas.microsoft.com/office/powerpoint/2010/main" val="995479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C3900E0-E276-04B7-EA19-1BE9ACB95EC5}"/>
              </a:ext>
            </a:extLst>
          </p:cNvPr>
          <p:cNvSpPr/>
          <p:nvPr/>
        </p:nvSpPr>
        <p:spPr>
          <a:xfrm>
            <a:off x="608171" y="477798"/>
            <a:ext cx="11068764" cy="543044"/>
          </a:xfrm>
          <a:prstGeom prst="rect">
            <a:avLst/>
          </a:prstGeom>
          <a:noFill/>
          <a:ln/>
        </p:spPr>
        <p:txBody>
          <a:bodyPr wrap="none" lIns="0" tIns="0" rIns="0" bIns="0" rtlCol="0" anchor="t"/>
          <a:lstStyle/>
          <a:p>
            <a:pPr marL="0" indent="0" algn="l">
              <a:lnSpc>
                <a:spcPts val="4250"/>
              </a:lnSpc>
              <a:buNone/>
            </a:pPr>
            <a:r>
              <a:rPr lang="en-US" sz="3400" dirty="0">
                <a:latin typeface="Crimson Pro Semi Bold" panose="020B0604020202020204" charset="0"/>
                <a:ea typeface="Crimson Pro Semi Bold" pitchFamily="34" charset="-122"/>
                <a:cs typeface="Crimson Pro Semi Bold" pitchFamily="34" charset="-120"/>
              </a:rPr>
              <a:t>Деректер базасының құрылымы және ER-диаграмма</a:t>
            </a:r>
            <a:endParaRPr lang="en-US" sz="3400" dirty="0">
              <a:latin typeface="Crimson Pro Semi Bold" panose="020B0604020202020204" charset="0"/>
            </a:endParaRPr>
          </a:p>
        </p:txBody>
      </p:sp>
      <p:sp>
        <p:nvSpPr>
          <p:cNvPr id="3" name="Text 1">
            <a:extLst>
              <a:ext uri="{FF2B5EF4-FFF2-40B4-BE49-F238E27FC236}">
                <a16:creationId xmlns:a16="http://schemas.microsoft.com/office/drawing/2014/main" id="{C9A8D517-41D5-F175-4847-B7643B37FE5A}"/>
              </a:ext>
            </a:extLst>
          </p:cNvPr>
          <p:cNvSpPr/>
          <p:nvPr/>
        </p:nvSpPr>
        <p:spPr>
          <a:xfrm>
            <a:off x="608171" y="1368385"/>
            <a:ext cx="13414058"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Жүйеде 6 негізгі кесте қарастырылған, олар деректерді логикалық және қайталанусыз сақтауды қамтамасыз етеді.</a:t>
            </a:r>
            <a:endParaRPr lang="en-US" sz="1350" dirty="0">
              <a:latin typeface="Crimson Pro Semi Bold" panose="020B0604020202020204" charset="0"/>
            </a:endParaRPr>
          </a:p>
        </p:txBody>
      </p:sp>
      <p:pic>
        <p:nvPicPr>
          <p:cNvPr id="6" name="Image 0" descr="preencoded.png">
            <a:extLst>
              <a:ext uri="{FF2B5EF4-FFF2-40B4-BE49-F238E27FC236}">
                <a16:creationId xmlns:a16="http://schemas.microsoft.com/office/drawing/2014/main" id="{00DD1B0E-8E7D-4202-776E-BD7280BC8FE7}"/>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25235" y="2158960"/>
            <a:ext cx="234553" cy="234553"/>
          </a:xfrm>
          <a:prstGeom prst="rect">
            <a:avLst/>
          </a:prstGeom>
        </p:spPr>
      </p:pic>
      <p:sp>
        <p:nvSpPr>
          <p:cNvPr id="7" name="Text 4">
            <a:extLst>
              <a:ext uri="{FF2B5EF4-FFF2-40B4-BE49-F238E27FC236}">
                <a16:creationId xmlns:a16="http://schemas.microsoft.com/office/drawing/2014/main" id="{D12C43D8-9C88-7714-2C8F-F14C41ABD1D0}"/>
              </a:ext>
            </a:extLst>
          </p:cNvPr>
          <p:cNvSpPr/>
          <p:nvPr/>
        </p:nvSpPr>
        <p:spPr>
          <a:xfrm>
            <a:off x="781882" y="1936313"/>
            <a:ext cx="2172295" cy="271582"/>
          </a:xfrm>
          <a:prstGeom prst="rect">
            <a:avLst/>
          </a:prstGeom>
          <a:noFill/>
          <a:ln/>
        </p:spPr>
        <p:txBody>
          <a:bodyPr wrap="none" lIns="0" tIns="0" rIns="0" bIns="0" rtlCol="0" anchor="t"/>
          <a:lstStyle/>
          <a:p>
            <a:pPr marL="0" indent="0" algn="l">
              <a:lnSpc>
                <a:spcPts val="2100"/>
              </a:lnSpc>
              <a:buNone/>
            </a:pPr>
            <a:r>
              <a:rPr lang="en-US" sz="1700" dirty="0">
                <a:latin typeface="Crimson Pro Semi Bold" panose="020B0604020202020204" charset="0"/>
                <a:ea typeface="Crimson Pro Semi Bold" pitchFamily="34" charset="-122"/>
                <a:cs typeface="Crimson Pro Semi Bold" pitchFamily="34" charset="-120"/>
              </a:rPr>
              <a:t>AspapTuri</a:t>
            </a:r>
            <a:endParaRPr lang="en-US" sz="1700" dirty="0">
              <a:latin typeface="Crimson Pro Semi Bold" panose="020B0604020202020204" charset="0"/>
            </a:endParaRPr>
          </a:p>
        </p:txBody>
      </p:sp>
      <p:sp>
        <p:nvSpPr>
          <p:cNvPr id="8" name="Text 5">
            <a:extLst>
              <a:ext uri="{FF2B5EF4-FFF2-40B4-BE49-F238E27FC236}">
                <a16:creationId xmlns:a16="http://schemas.microsoft.com/office/drawing/2014/main" id="{B13F7230-A186-89C8-CEE0-0DC4ED37EB8F}"/>
              </a:ext>
            </a:extLst>
          </p:cNvPr>
          <p:cNvSpPr/>
          <p:nvPr/>
        </p:nvSpPr>
        <p:spPr>
          <a:xfrm>
            <a:off x="781882" y="2140565"/>
            <a:ext cx="6272689"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Аспаптардың түрлері (ішекті, соқпалы).</a:t>
            </a:r>
            <a:endParaRPr lang="en-US" sz="1350" dirty="0">
              <a:latin typeface="Crimson Pro Semi Bold" panose="020B0604020202020204" charset="0"/>
            </a:endParaRPr>
          </a:p>
        </p:txBody>
      </p:sp>
      <p:pic>
        <p:nvPicPr>
          <p:cNvPr id="11" name="Image 1" descr="preencoded.png">
            <a:extLst>
              <a:ext uri="{FF2B5EF4-FFF2-40B4-BE49-F238E27FC236}">
                <a16:creationId xmlns:a16="http://schemas.microsoft.com/office/drawing/2014/main" id="{74D3D022-9544-C4B1-3B17-6CBF6E507E9F}"/>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7719060" y="2158960"/>
            <a:ext cx="234553" cy="234553"/>
          </a:xfrm>
          <a:prstGeom prst="rect">
            <a:avLst/>
          </a:prstGeom>
        </p:spPr>
      </p:pic>
      <p:sp>
        <p:nvSpPr>
          <p:cNvPr id="12" name="Text 8">
            <a:extLst>
              <a:ext uri="{FF2B5EF4-FFF2-40B4-BE49-F238E27FC236}">
                <a16:creationId xmlns:a16="http://schemas.microsoft.com/office/drawing/2014/main" id="{420ADDCA-049F-A707-3109-2618B9800C24}"/>
              </a:ext>
            </a:extLst>
          </p:cNvPr>
          <p:cNvSpPr/>
          <p:nvPr/>
        </p:nvSpPr>
        <p:spPr>
          <a:xfrm>
            <a:off x="7575708" y="2038230"/>
            <a:ext cx="2172295" cy="271582"/>
          </a:xfrm>
          <a:prstGeom prst="rect">
            <a:avLst/>
          </a:prstGeom>
          <a:noFill/>
          <a:ln/>
        </p:spPr>
        <p:txBody>
          <a:bodyPr wrap="none" lIns="0" tIns="0" rIns="0" bIns="0" rtlCol="0" anchor="t"/>
          <a:lstStyle/>
          <a:p>
            <a:pPr marL="0" indent="0" algn="l">
              <a:lnSpc>
                <a:spcPts val="2100"/>
              </a:lnSpc>
              <a:buNone/>
            </a:pPr>
            <a:r>
              <a:rPr lang="en-US" sz="1700" dirty="0">
                <a:latin typeface="Crimson Pro Semi Bold" panose="020B0604020202020204" charset="0"/>
                <a:ea typeface="Crimson Pro Semi Bold" pitchFamily="34" charset="-122"/>
                <a:cs typeface="Crimson Pro Semi Bold" pitchFamily="34" charset="-120"/>
              </a:rPr>
              <a:t>Ondirushi</a:t>
            </a:r>
            <a:endParaRPr lang="en-US" sz="1700" dirty="0">
              <a:latin typeface="Crimson Pro Semi Bold" panose="020B0604020202020204" charset="0"/>
            </a:endParaRPr>
          </a:p>
        </p:txBody>
      </p:sp>
      <p:sp>
        <p:nvSpPr>
          <p:cNvPr id="13" name="Text 9">
            <a:extLst>
              <a:ext uri="{FF2B5EF4-FFF2-40B4-BE49-F238E27FC236}">
                <a16:creationId xmlns:a16="http://schemas.microsoft.com/office/drawing/2014/main" id="{192CD051-8E92-ACDF-06C5-3C08C5BAAA3D}"/>
              </a:ext>
            </a:extLst>
          </p:cNvPr>
          <p:cNvSpPr/>
          <p:nvPr/>
        </p:nvSpPr>
        <p:spPr>
          <a:xfrm>
            <a:off x="7606360" y="2271802"/>
            <a:ext cx="6272808"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Өндіруші фирмалар (атауы, елі).</a:t>
            </a:r>
            <a:endParaRPr lang="en-US" sz="1350" dirty="0">
              <a:latin typeface="Crimson Pro Semi Bold" panose="020B0604020202020204" charset="0"/>
            </a:endParaRPr>
          </a:p>
        </p:txBody>
      </p:sp>
      <p:sp>
        <p:nvSpPr>
          <p:cNvPr id="17" name="Text 12">
            <a:extLst>
              <a:ext uri="{FF2B5EF4-FFF2-40B4-BE49-F238E27FC236}">
                <a16:creationId xmlns:a16="http://schemas.microsoft.com/office/drawing/2014/main" id="{744C2AC5-5F33-993E-B6D4-71345CBD754B}"/>
              </a:ext>
            </a:extLst>
          </p:cNvPr>
          <p:cNvSpPr/>
          <p:nvPr/>
        </p:nvSpPr>
        <p:spPr>
          <a:xfrm>
            <a:off x="781883" y="2426137"/>
            <a:ext cx="2172295" cy="271582"/>
          </a:xfrm>
          <a:prstGeom prst="rect">
            <a:avLst/>
          </a:prstGeom>
          <a:noFill/>
          <a:ln/>
        </p:spPr>
        <p:txBody>
          <a:bodyPr wrap="none" lIns="0" tIns="0" rIns="0" bIns="0" rtlCol="0" anchor="t"/>
          <a:lstStyle/>
          <a:p>
            <a:pPr marL="0" indent="0" algn="l">
              <a:lnSpc>
                <a:spcPts val="2100"/>
              </a:lnSpc>
              <a:buNone/>
            </a:pPr>
            <a:r>
              <a:rPr lang="en-US" sz="1700" dirty="0">
                <a:latin typeface="Crimson Pro Semi Bold" panose="020B0604020202020204" charset="0"/>
                <a:ea typeface="Crimson Pro Semi Bold" pitchFamily="34" charset="-122"/>
                <a:cs typeface="Crimson Pro Semi Bold" pitchFamily="34" charset="-120"/>
              </a:rPr>
              <a:t>Aspap</a:t>
            </a:r>
            <a:endParaRPr lang="en-US" sz="1700" dirty="0">
              <a:latin typeface="Crimson Pro Semi Bold" panose="020B0604020202020204" charset="0"/>
            </a:endParaRPr>
          </a:p>
        </p:txBody>
      </p:sp>
      <p:sp>
        <p:nvSpPr>
          <p:cNvPr id="18" name="Text 13">
            <a:extLst>
              <a:ext uri="{FF2B5EF4-FFF2-40B4-BE49-F238E27FC236}">
                <a16:creationId xmlns:a16="http://schemas.microsoft.com/office/drawing/2014/main" id="{E89D5412-5557-9619-EE69-18D139DB5FE0}"/>
              </a:ext>
            </a:extLst>
          </p:cNvPr>
          <p:cNvSpPr/>
          <p:nvPr/>
        </p:nvSpPr>
        <p:spPr>
          <a:xfrm>
            <a:off x="756964" y="2660749"/>
            <a:ext cx="6272689"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Нақты аспаптар (атауы, бағасы, түрі, өндірушісі).</a:t>
            </a:r>
            <a:endParaRPr lang="en-US" sz="1350" dirty="0">
              <a:latin typeface="Crimson Pro Semi Bold" panose="020B0604020202020204" charset="0"/>
            </a:endParaRPr>
          </a:p>
        </p:txBody>
      </p:sp>
      <p:pic>
        <p:nvPicPr>
          <p:cNvPr id="21" name="Image 3" descr="preencoded.png">
            <a:extLst>
              <a:ext uri="{FF2B5EF4-FFF2-40B4-BE49-F238E27FC236}">
                <a16:creationId xmlns:a16="http://schemas.microsoft.com/office/drawing/2014/main" id="{333B3BEC-B22F-00B0-40C5-983337E72720}"/>
              </a:ext>
            </a:extLst>
          </p:cNvPr>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7719060" y="4028956"/>
            <a:ext cx="234553" cy="234553"/>
          </a:xfrm>
          <a:prstGeom prst="rect">
            <a:avLst/>
          </a:prstGeom>
        </p:spPr>
      </p:pic>
      <p:sp>
        <p:nvSpPr>
          <p:cNvPr id="22" name="Text 16">
            <a:extLst>
              <a:ext uri="{FF2B5EF4-FFF2-40B4-BE49-F238E27FC236}">
                <a16:creationId xmlns:a16="http://schemas.microsoft.com/office/drawing/2014/main" id="{36652579-92BA-3E40-96EA-BC6FFF7D16F1}"/>
              </a:ext>
            </a:extLst>
          </p:cNvPr>
          <p:cNvSpPr/>
          <p:nvPr/>
        </p:nvSpPr>
        <p:spPr>
          <a:xfrm>
            <a:off x="7606360" y="2587853"/>
            <a:ext cx="2172295" cy="271582"/>
          </a:xfrm>
          <a:prstGeom prst="rect">
            <a:avLst/>
          </a:prstGeom>
          <a:noFill/>
          <a:ln/>
        </p:spPr>
        <p:txBody>
          <a:bodyPr wrap="none" lIns="0" tIns="0" rIns="0" bIns="0" rtlCol="0" anchor="t"/>
          <a:lstStyle/>
          <a:p>
            <a:pPr marL="0" indent="0" algn="l">
              <a:lnSpc>
                <a:spcPts val="2100"/>
              </a:lnSpc>
              <a:buNone/>
            </a:pPr>
            <a:r>
              <a:rPr lang="en-US" sz="1700" dirty="0">
                <a:latin typeface="Crimson Pro Semi Bold" panose="020B0604020202020204" charset="0"/>
                <a:ea typeface="Crimson Pro Semi Bold" pitchFamily="34" charset="-122"/>
                <a:cs typeface="Crimson Pro Semi Bold" pitchFamily="34" charset="-120"/>
              </a:rPr>
              <a:t>Klient</a:t>
            </a:r>
            <a:endParaRPr lang="en-US" sz="1700" dirty="0">
              <a:latin typeface="Crimson Pro Semi Bold" panose="020B0604020202020204" charset="0"/>
            </a:endParaRPr>
          </a:p>
        </p:txBody>
      </p:sp>
      <p:sp>
        <p:nvSpPr>
          <p:cNvPr id="23" name="Text 17">
            <a:extLst>
              <a:ext uri="{FF2B5EF4-FFF2-40B4-BE49-F238E27FC236}">
                <a16:creationId xmlns:a16="http://schemas.microsoft.com/office/drawing/2014/main" id="{6A41DDCA-E16F-2DD6-EC71-4DEB82CD4DE4}"/>
              </a:ext>
            </a:extLst>
          </p:cNvPr>
          <p:cNvSpPr/>
          <p:nvPr/>
        </p:nvSpPr>
        <p:spPr>
          <a:xfrm>
            <a:off x="7606360" y="2792105"/>
            <a:ext cx="6272808"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Клиенттің аты, мекенжайы, телефоны.</a:t>
            </a:r>
            <a:endParaRPr lang="en-US" sz="1350" dirty="0">
              <a:latin typeface="Crimson Pro Semi Bold" panose="020B0604020202020204" charset="0"/>
            </a:endParaRPr>
          </a:p>
        </p:txBody>
      </p:sp>
      <p:pic>
        <p:nvPicPr>
          <p:cNvPr id="26" name="Image 4" descr="preencoded.png">
            <a:extLst>
              <a:ext uri="{FF2B5EF4-FFF2-40B4-BE49-F238E27FC236}">
                <a16:creationId xmlns:a16="http://schemas.microsoft.com/office/drawing/2014/main" id="{1B0BCFF2-E237-3221-0CC3-889543E55A50}"/>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925235" y="5898952"/>
            <a:ext cx="234553" cy="234553"/>
          </a:xfrm>
          <a:prstGeom prst="rect">
            <a:avLst/>
          </a:prstGeom>
        </p:spPr>
      </p:pic>
      <p:sp>
        <p:nvSpPr>
          <p:cNvPr id="27" name="Text 20">
            <a:extLst>
              <a:ext uri="{FF2B5EF4-FFF2-40B4-BE49-F238E27FC236}">
                <a16:creationId xmlns:a16="http://schemas.microsoft.com/office/drawing/2014/main" id="{7982544A-88A9-D498-1ECF-C3797B0BE614}"/>
              </a:ext>
            </a:extLst>
          </p:cNvPr>
          <p:cNvSpPr/>
          <p:nvPr/>
        </p:nvSpPr>
        <p:spPr>
          <a:xfrm>
            <a:off x="781883" y="2976775"/>
            <a:ext cx="2172295" cy="271582"/>
          </a:xfrm>
          <a:prstGeom prst="rect">
            <a:avLst/>
          </a:prstGeom>
          <a:noFill/>
          <a:ln/>
        </p:spPr>
        <p:txBody>
          <a:bodyPr wrap="none" lIns="0" tIns="0" rIns="0" bIns="0" rtlCol="0" anchor="t"/>
          <a:lstStyle/>
          <a:p>
            <a:pPr marL="0" indent="0" algn="l">
              <a:lnSpc>
                <a:spcPts val="2100"/>
              </a:lnSpc>
              <a:buNone/>
            </a:pPr>
            <a:r>
              <a:rPr lang="en-US" sz="1700" dirty="0">
                <a:latin typeface="Crimson Pro Semi Bold" panose="020B0604020202020204" charset="0"/>
                <a:ea typeface="Crimson Pro Semi Bold" pitchFamily="34" charset="-122"/>
                <a:cs typeface="Crimson Pro Semi Bold" pitchFamily="34" charset="-120"/>
              </a:rPr>
              <a:t>Kyzmetker</a:t>
            </a:r>
            <a:endParaRPr lang="en-US" sz="1700" dirty="0">
              <a:latin typeface="Crimson Pro Semi Bold" panose="020B0604020202020204" charset="0"/>
            </a:endParaRPr>
          </a:p>
        </p:txBody>
      </p:sp>
      <p:sp>
        <p:nvSpPr>
          <p:cNvPr id="28" name="Text 21">
            <a:extLst>
              <a:ext uri="{FF2B5EF4-FFF2-40B4-BE49-F238E27FC236}">
                <a16:creationId xmlns:a16="http://schemas.microsoft.com/office/drawing/2014/main" id="{0AAAB910-B1DA-0B1D-978B-C5D4BA66154A}"/>
              </a:ext>
            </a:extLst>
          </p:cNvPr>
          <p:cNvSpPr/>
          <p:nvPr/>
        </p:nvSpPr>
        <p:spPr>
          <a:xfrm>
            <a:off x="781883" y="3221461"/>
            <a:ext cx="6272689"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Қызметкерлер туралы ақпарат (аты-жөні, лауазымы).</a:t>
            </a:r>
            <a:endParaRPr lang="en-US" sz="1350" dirty="0">
              <a:latin typeface="Crimson Pro Semi Bold" panose="020B0604020202020204" charset="0"/>
            </a:endParaRPr>
          </a:p>
        </p:txBody>
      </p:sp>
      <p:pic>
        <p:nvPicPr>
          <p:cNvPr id="31" name="Image 5" descr="preencoded.png">
            <a:extLst>
              <a:ext uri="{FF2B5EF4-FFF2-40B4-BE49-F238E27FC236}">
                <a16:creationId xmlns:a16="http://schemas.microsoft.com/office/drawing/2014/main" id="{0ABAC966-706A-DDD2-72A5-E7458E623C0E}"/>
              </a:ext>
            </a:extLst>
          </p:cNvPr>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a:off x="7719060" y="5898952"/>
            <a:ext cx="234553" cy="234553"/>
          </a:xfrm>
          <a:prstGeom prst="rect">
            <a:avLst/>
          </a:prstGeom>
        </p:spPr>
      </p:pic>
      <p:sp>
        <p:nvSpPr>
          <p:cNvPr id="32" name="Text 24">
            <a:extLst>
              <a:ext uri="{FF2B5EF4-FFF2-40B4-BE49-F238E27FC236}">
                <a16:creationId xmlns:a16="http://schemas.microsoft.com/office/drawing/2014/main" id="{A22E11C8-0770-9E19-3905-86F4BCEE1F4F}"/>
              </a:ext>
            </a:extLst>
          </p:cNvPr>
          <p:cNvSpPr/>
          <p:nvPr/>
        </p:nvSpPr>
        <p:spPr>
          <a:xfrm>
            <a:off x="7606360" y="3080652"/>
            <a:ext cx="2172295" cy="271582"/>
          </a:xfrm>
          <a:prstGeom prst="rect">
            <a:avLst/>
          </a:prstGeom>
          <a:noFill/>
          <a:ln/>
        </p:spPr>
        <p:txBody>
          <a:bodyPr wrap="none" lIns="0" tIns="0" rIns="0" bIns="0" rtlCol="0" anchor="t"/>
          <a:lstStyle/>
          <a:p>
            <a:pPr marL="0" indent="0" algn="l">
              <a:lnSpc>
                <a:spcPts val="2100"/>
              </a:lnSpc>
              <a:buNone/>
            </a:pPr>
            <a:r>
              <a:rPr lang="en-US" sz="1700" dirty="0">
                <a:latin typeface="Crimson Pro Semi Bold" panose="020B0604020202020204" charset="0"/>
                <a:ea typeface="Crimson Pro Semi Bold" pitchFamily="34" charset="-122"/>
                <a:cs typeface="Crimson Pro Semi Bold" pitchFamily="34" charset="-120"/>
              </a:rPr>
              <a:t>Satylym</a:t>
            </a:r>
            <a:endParaRPr lang="en-US" sz="1700" dirty="0">
              <a:latin typeface="Crimson Pro Semi Bold" panose="020B0604020202020204" charset="0"/>
            </a:endParaRPr>
          </a:p>
        </p:txBody>
      </p:sp>
      <p:sp>
        <p:nvSpPr>
          <p:cNvPr id="33" name="Text 25">
            <a:extLst>
              <a:ext uri="{FF2B5EF4-FFF2-40B4-BE49-F238E27FC236}">
                <a16:creationId xmlns:a16="http://schemas.microsoft.com/office/drawing/2014/main" id="{3E3AA07A-292F-F21A-AD4E-924CFA7865EB}"/>
              </a:ext>
            </a:extLst>
          </p:cNvPr>
          <p:cNvSpPr/>
          <p:nvPr/>
        </p:nvSpPr>
        <p:spPr>
          <a:xfrm>
            <a:off x="7606360" y="3312408"/>
            <a:ext cx="6272808"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Сатылым деректері (аспап, клиент, саны, күні, бағасы, қызметкер).</a:t>
            </a:r>
            <a:endParaRPr lang="en-US" sz="1350" dirty="0">
              <a:latin typeface="Crimson Pro Semi Bold" panose="020B0604020202020204" charset="0"/>
            </a:endParaRPr>
          </a:p>
        </p:txBody>
      </p:sp>
      <p:sp>
        <p:nvSpPr>
          <p:cNvPr id="34" name="Text 26">
            <a:extLst>
              <a:ext uri="{FF2B5EF4-FFF2-40B4-BE49-F238E27FC236}">
                <a16:creationId xmlns:a16="http://schemas.microsoft.com/office/drawing/2014/main" id="{EE280C43-70D7-0B22-94E7-DA3D8B2B4881}"/>
              </a:ext>
            </a:extLst>
          </p:cNvPr>
          <p:cNvSpPr/>
          <p:nvPr/>
        </p:nvSpPr>
        <p:spPr>
          <a:xfrm>
            <a:off x="608171" y="7473791"/>
            <a:ext cx="13414058" cy="278130"/>
          </a:xfrm>
          <a:prstGeom prst="rect">
            <a:avLst/>
          </a:prstGeom>
          <a:noFill/>
          <a:ln/>
        </p:spPr>
        <p:txBody>
          <a:bodyPr wrap="none" lIns="0" tIns="0" rIns="0" bIns="0" rtlCol="0" anchor="t"/>
          <a:lstStyle/>
          <a:p>
            <a:pPr marL="0" indent="0" algn="l">
              <a:lnSpc>
                <a:spcPts val="2150"/>
              </a:lnSpc>
              <a:buNone/>
            </a:pPr>
            <a:r>
              <a:rPr lang="en-US" sz="1350" dirty="0">
                <a:latin typeface="Crimson Pro Semi Bold" panose="020B0604020202020204" charset="0"/>
                <a:ea typeface="Heebo" pitchFamily="34" charset="-122"/>
                <a:cs typeface="Heebo" pitchFamily="34" charset="-120"/>
              </a:rPr>
              <a:t>Байланыстар: Бір өндіруші → бірнеше аспап; Бір түр → бірнеше аспап; Бір қызметкер → бірнеше сатылым; Бір клиент → бірнеше сатып алу.</a:t>
            </a:r>
            <a:endParaRPr lang="en-US" sz="1350" dirty="0">
              <a:latin typeface="Crimson Pro Semi Bold" panose="020B0604020202020204" charset="0"/>
            </a:endParaRPr>
          </a:p>
        </p:txBody>
      </p:sp>
      <p:pic>
        <p:nvPicPr>
          <p:cNvPr id="35" name="Рисунок 1">
            <a:extLst>
              <a:ext uri="{FF2B5EF4-FFF2-40B4-BE49-F238E27FC236}">
                <a16:creationId xmlns:a16="http://schemas.microsoft.com/office/drawing/2014/main" id="{C6370A20-0DBC-A86B-4936-E972BDC395B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868029" y="3662201"/>
            <a:ext cx="9367357" cy="3277579"/>
          </a:xfrm>
          <a:prstGeom prst="rect">
            <a:avLst/>
          </a:prstGeom>
        </p:spPr>
      </p:pic>
    </p:spTree>
    <p:extLst>
      <p:ext uri="{BB962C8B-B14F-4D97-AF65-F5344CB8AC3E}">
        <p14:creationId xmlns:p14="http://schemas.microsoft.com/office/powerpoint/2010/main" val="3081970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EC64E8-6F20-6C39-55EF-C41917D8BFCA}"/>
              </a:ext>
            </a:extLst>
          </p:cNvPr>
          <p:cNvSpPr txBox="1"/>
          <p:nvPr/>
        </p:nvSpPr>
        <p:spPr>
          <a:xfrm>
            <a:off x="395111" y="462844"/>
            <a:ext cx="13620046" cy="4547399"/>
          </a:xfrm>
          <a:prstGeom prst="rect">
            <a:avLst/>
          </a:prstGeom>
          <a:noFill/>
        </p:spPr>
        <p:txBody>
          <a:bodyPr wrap="square">
            <a:spAutoFit/>
          </a:bodyPr>
          <a:lstStyle/>
          <a:p>
            <a:pPr>
              <a:lnSpc>
                <a:spcPts val="4500"/>
              </a:lnSpc>
            </a:pPr>
            <a:r>
              <a:rPr lang="kk-KZ" sz="2800" noProof="0" dirty="0"/>
              <a:t>БРАУЗЕРДЕГІ КЕСТЕЛЕР – DB Browser / SQLite</a:t>
            </a:r>
            <a:endParaRPr lang="kk-KZ" sz="2800" noProof="0" dirty="0">
              <a:latin typeface="Times New Roman" panose="02020603050405020304" pitchFamily="18" charset="0"/>
              <a:cs typeface="Times New Roman" panose="02020603050405020304" pitchFamily="18" charset="0"/>
            </a:endParaRPr>
          </a:p>
          <a:p>
            <a:r>
              <a:rPr lang="kk-KZ" noProof="0" dirty="0">
                <a:latin typeface="Times New Roman" panose="02020603050405020304" pitchFamily="18" charset="0"/>
                <a:cs typeface="Times New Roman" panose="02020603050405020304" pitchFamily="18" charset="0"/>
              </a:rPr>
              <a:t>Деректер базасын жобалау барысында кестелердің құрылымы </a:t>
            </a:r>
            <a:r>
              <a:rPr lang="kk-KZ" b="1" noProof="0" dirty="0">
                <a:latin typeface="Times New Roman" panose="02020603050405020304" pitchFamily="18" charset="0"/>
                <a:cs typeface="Times New Roman" panose="02020603050405020304" pitchFamily="18" charset="0"/>
              </a:rPr>
              <a:t>DB Browser for SQLite </a:t>
            </a:r>
            <a:r>
              <a:rPr lang="kk-KZ" noProof="0" dirty="0">
                <a:latin typeface="Times New Roman" panose="02020603050405020304" pitchFamily="18" charset="0"/>
                <a:cs typeface="Times New Roman" panose="02020603050405020304" pitchFamily="18" charset="0"/>
              </a:rPr>
              <a:t>бағдарламасы арқылы тексеріліп, әр кестенің өрістері мен байланыстары визуалды түрде қарастырылды. Бұл құрал деректер базасының құрамын, кестелер арасындағы қатынастарды және сақталған мәліметтерді ыңғайлы format-та көрсетуге мүмкіндік береді.</a:t>
            </a:r>
          </a:p>
          <a:p>
            <a:r>
              <a:rPr lang="kk-KZ" b="1" noProof="0" dirty="0">
                <a:latin typeface="Times New Roman" panose="02020603050405020304" pitchFamily="18" charset="0"/>
                <a:cs typeface="Times New Roman" panose="02020603050405020304" pitchFamily="18" charset="0"/>
              </a:rPr>
              <a:t>Aspap</a:t>
            </a:r>
            <a:r>
              <a:rPr lang="kk-KZ" noProof="0" dirty="0">
                <a:latin typeface="Times New Roman" panose="02020603050405020304" pitchFamily="18" charset="0"/>
                <a:cs typeface="Times New Roman" panose="02020603050405020304" pitchFamily="18" charset="0"/>
              </a:rPr>
              <a:t> (Аспаптар)							</a:t>
            </a:r>
            <a:r>
              <a:rPr lang="kk-KZ" b="1" noProof="0" dirty="0">
                <a:latin typeface="Times New Roman" panose="02020603050405020304" pitchFamily="18" charset="0"/>
                <a:cs typeface="Times New Roman" panose="02020603050405020304" pitchFamily="18" charset="0"/>
              </a:rPr>
              <a:t>Satylym</a:t>
            </a:r>
            <a:r>
              <a:rPr lang="kk-KZ" noProof="0" dirty="0">
                <a:latin typeface="Times New Roman" panose="02020603050405020304" pitchFamily="18" charset="0"/>
                <a:cs typeface="Times New Roman" panose="02020603050405020304" pitchFamily="18" charset="0"/>
              </a:rPr>
              <a:t> (Сатылымдар)</a:t>
            </a:r>
          </a:p>
          <a:p>
            <a:r>
              <a:rPr lang="kk-KZ" noProof="0" dirty="0">
                <a:latin typeface="Times New Roman" panose="02020603050405020304" pitchFamily="18" charset="0"/>
                <a:cs typeface="Times New Roman" panose="02020603050405020304" pitchFamily="18" charset="0"/>
              </a:rPr>
              <a:t>Атауы, бағасы, шыққан жері, өндірушісі, аспап түрі. 			Аспап ID, клиент ID, қызметкер ID, күні, саны, жалпы бағасы..</a:t>
            </a:r>
          </a:p>
          <a:p>
            <a:r>
              <a:rPr lang="kk-KZ" b="1" noProof="0" dirty="0">
                <a:latin typeface="Times New Roman" panose="02020603050405020304" pitchFamily="18" charset="0"/>
                <a:cs typeface="Times New Roman" panose="02020603050405020304" pitchFamily="18" charset="0"/>
              </a:rPr>
              <a:t>Ondirushi</a:t>
            </a:r>
            <a:r>
              <a:rPr lang="kk-KZ" noProof="0" dirty="0">
                <a:latin typeface="Times New Roman" panose="02020603050405020304" pitchFamily="18" charset="0"/>
                <a:cs typeface="Times New Roman" panose="02020603050405020304" pitchFamily="18" charset="0"/>
              </a:rPr>
              <a:t> (Өндірушілер)						</a:t>
            </a:r>
            <a:r>
              <a:rPr lang="kk-KZ" b="1" noProof="0" dirty="0">
                <a:latin typeface="Times New Roman" panose="02020603050405020304" pitchFamily="18" charset="0"/>
                <a:cs typeface="Times New Roman" panose="02020603050405020304" pitchFamily="18" charset="0"/>
              </a:rPr>
              <a:t>Klient</a:t>
            </a:r>
            <a:r>
              <a:rPr lang="kk-KZ" noProof="0" dirty="0">
                <a:latin typeface="Times New Roman" panose="02020603050405020304" pitchFamily="18" charset="0"/>
                <a:cs typeface="Times New Roman" panose="02020603050405020304" pitchFamily="18" charset="0"/>
              </a:rPr>
              <a:t> (Клиенттер)				</a:t>
            </a:r>
          </a:p>
          <a:p>
            <a:r>
              <a:rPr lang="kk-KZ" noProof="0" dirty="0">
                <a:latin typeface="Times New Roman" panose="02020603050405020304" pitchFamily="18" charset="0"/>
                <a:cs typeface="Times New Roman" panose="02020603050405020304" pitchFamily="18" charset="0"/>
              </a:rPr>
              <a:t>Компания атауы, шыққан елі.					Аты-жөні, мекенжайы, байланыс нөмірі.</a:t>
            </a:r>
          </a:p>
          <a:p>
            <a:r>
              <a:rPr lang="kk-KZ" b="1" noProof="0" dirty="0">
                <a:latin typeface="Times New Roman" panose="02020603050405020304" pitchFamily="18" charset="0"/>
                <a:cs typeface="Times New Roman" panose="02020603050405020304" pitchFamily="18" charset="0"/>
              </a:rPr>
              <a:t>Kyzmetker</a:t>
            </a:r>
            <a:r>
              <a:rPr lang="kk-KZ" noProof="0" dirty="0">
                <a:latin typeface="Times New Roman" panose="02020603050405020304" pitchFamily="18" charset="0"/>
                <a:cs typeface="Times New Roman" panose="02020603050405020304" pitchFamily="18" charset="0"/>
              </a:rPr>
              <a:t> (Қызметкерлер)						</a:t>
            </a:r>
            <a:r>
              <a:rPr lang="kk-KZ" b="1" noProof="0" dirty="0">
                <a:latin typeface="Times New Roman" panose="02020603050405020304" pitchFamily="18" charset="0"/>
                <a:cs typeface="Times New Roman" panose="02020603050405020304" pitchFamily="18" charset="0"/>
              </a:rPr>
              <a:t>AspapTuri</a:t>
            </a:r>
            <a:r>
              <a:rPr lang="kk-KZ" noProof="0" dirty="0">
                <a:latin typeface="Times New Roman" panose="02020603050405020304" pitchFamily="18" charset="0"/>
                <a:cs typeface="Times New Roman" panose="02020603050405020304" pitchFamily="18" charset="0"/>
              </a:rPr>
              <a:t> (Аспап түрлері)</a:t>
            </a:r>
          </a:p>
          <a:p>
            <a:r>
              <a:rPr lang="kk-KZ" noProof="0" dirty="0">
                <a:latin typeface="Times New Roman" panose="02020603050405020304" pitchFamily="18" charset="0"/>
                <a:cs typeface="Times New Roman" panose="02020603050405020304" pitchFamily="18" charset="0"/>
              </a:rPr>
              <a:t>Аты, лауазымы.							Ішекті, үрмелі, соқпалы және т.б.</a:t>
            </a:r>
          </a:p>
          <a:p>
            <a:r>
              <a:rPr lang="kk-KZ" b="1" noProof="0" dirty="0">
                <a:latin typeface="Times New Roman" panose="02020603050405020304" pitchFamily="18" charset="0"/>
                <a:cs typeface="Times New Roman" panose="02020603050405020304" pitchFamily="18" charset="0"/>
              </a:rPr>
              <a:t>CRUD</a:t>
            </a:r>
            <a:r>
              <a:rPr lang="kk-KZ" noProof="0" dirty="0">
                <a:latin typeface="Times New Roman" panose="02020603050405020304" pitchFamily="18" charset="0"/>
                <a:cs typeface="Times New Roman" panose="02020603050405020304" pitchFamily="18" charset="0"/>
              </a:rPr>
              <a:t> операциялары</a:t>
            </a:r>
          </a:p>
          <a:p>
            <a:r>
              <a:rPr lang="kk-KZ" noProof="0" dirty="0">
                <a:latin typeface="Times New Roman" panose="02020603050405020304" pitchFamily="18" charset="0"/>
                <a:cs typeface="Times New Roman" panose="02020603050405020304" pitchFamily="18" charset="0"/>
              </a:rPr>
              <a:t>Қосу, өзгерту, жою, қарау — деректерді ыңғайлы басқаруға мүмкіндік береді.</a:t>
            </a:r>
          </a:p>
          <a:p>
            <a:endParaRPr lang="kk-KZ" noProof="0" dirty="0">
              <a:latin typeface="Times New Roman" panose="02020603050405020304" pitchFamily="18" charset="0"/>
              <a:cs typeface="Times New Roman" panose="02020603050405020304" pitchFamily="18" charset="0"/>
            </a:endParaRPr>
          </a:p>
          <a:p>
            <a:endParaRPr lang="kk-KZ" noProof="0" dirty="0">
              <a:latin typeface="Times New Roman" panose="02020603050405020304" pitchFamily="18" charset="0"/>
              <a:cs typeface="Times New Roman" panose="02020603050405020304" pitchFamily="18" charset="0"/>
            </a:endParaRPr>
          </a:p>
        </p:txBody>
      </p:sp>
      <p:sp>
        <p:nvSpPr>
          <p:cNvPr id="4" name="AutoShape 2">
            <a:extLst>
              <a:ext uri="{FF2B5EF4-FFF2-40B4-BE49-F238E27FC236}">
                <a16:creationId xmlns:a16="http://schemas.microsoft.com/office/drawing/2014/main" id="{F9F7E3F6-B8CB-5740-3A28-29371CB0700D}"/>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k-KZ" noProof="0" dirty="0"/>
          </a:p>
        </p:txBody>
      </p:sp>
      <p:sp>
        <p:nvSpPr>
          <p:cNvPr id="5" name="AutoShape 4">
            <a:extLst>
              <a:ext uri="{FF2B5EF4-FFF2-40B4-BE49-F238E27FC236}">
                <a16:creationId xmlns:a16="http://schemas.microsoft.com/office/drawing/2014/main" id="{786DD204-C28A-D0B7-34B4-D574FE3C2DBB}"/>
              </a:ext>
            </a:extLst>
          </p:cNvPr>
          <p:cNvSpPr>
            <a:spLocks noChangeAspect="1" noChangeArrowheads="1"/>
          </p:cNvSpPr>
          <p:nvPr/>
        </p:nvSpPr>
        <p:spPr bwMode="auto">
          <a:xfrm>
            <a:off x="7315200" y="411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k-KZ" noProof="0" dirty="0"/>
          </a:p>
        </p:txBody>
      </p:sp>
      <p:sp>
        <p:nvSpPr>
          <p:cNvPr id="6" name="AutoShape 6">
            <a:extLst>
              <a:ext uri="{FF2B5EF4-FFF2-40B4-BE49-F238E27FC236}">
                <a16:creationId xmlns:a16="http://schemas.microsoft.com/office/drawing/2014/main" id="{45A2EA81-1DC3-34CF-4FA5-A262FF8BCD86}"/>
              </a:ext>
            </a:extLst>
          </p:cNvPr>
          <p:cNvSpPr>
            <a:spLocks noChangeAspect="1" noChangeArrowheads="1"/>
          </p:cNvSpPr>
          <p:nvPr/>
        </p:nvSpPr>
        <p:spPr bwMode="auto">
          <a:xfrm>
            <a:off x="7315200" y="4267199"/>
            <a:ext cx="414707" cy="41470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k-KZ" noProof="0" dirty="0"/>
          </a:p>
        </p:txBody>
      </p:sp>
      <p:sp>
        <p:nvSpPr>
          <p:cNvPr id="7" name="AutoShape 8">
            <a:extLst>
              <a:ext uri="{FF2B5EF4-FFF2-40B4-BE49-F238E27FC236}">
                <a16:creationId xmlns:a16="http://schemas.microsoft.com/office/drawing/2014/main" id="{1307AC64-4A64-10FF-862F-8C2BF290D714}"/>
              </a:ext>
            </a:extLst>
          </p:cNvPr>
          <p:cNvSpPr>
            <a:spLocks noChangeAspect="1" noChangeArrowheads="1"/>
          </p:cNvSpPr>
          <p:nvPr/>
        </p:nvSpPr>
        <p:spPr bwMode="auto">
          <a:xfrm>
            <a:off x="7467600" y="426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k-KZ" noProof="0" dirty="0"/>
          </a:p>
        </p:txBody>
      </p:sp>
      <p:pic>
        <p:nvPicPr>
          <p:cNvPr id="8" name="Рисунок 14">
            <a:extLst>
              <a:ext uri="{FF2B5EF4-FFF2-40B4-BE49-F238E27FC236}">
                <a16:creationId xmlns:a16="http://schemas.microsoft.com/office/drawing/2014/main" id="{3D31F23F-8710-41E7-49FF-0E6FE0F12BB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5111" y="4934335"/>
            <a:ext cx="5283200" cy="2756704"/>
          </a:xfrm>
          <a:prstGeom prst="rect">
            <a:avLst/>
          </a:prstGeom>
          <a:noFill/>
          <a:ln>
            <a:noFill/>
          </a:ln>
        </p:spPr>
      </p:pic>
      <p:pic>
        <p:nvPicPr>
          <p:cNvPr id="9" name="Рисунок 17">
            <a:extLst>
              <a:ext uri="{FF2B5EF4-FFF2-40B4-BE49-F238E27FC236}">
                <a16:creationId xmlns:a16="http://schemas.microsoft.com/office/drawing/2014/main" id="{854703B4-0D8C-EC6C-91AC-73C78EE02B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78309" y="4934335"/>
            <a:ext cx="4628445" cy="2756704"/>
          </a:xfrm>
          <a:prstGeom prst="rect">
            <a:avLst/>
          </a:prstGeom>
          <a:noFill/>
          <a:ln>
            <a:noFill/>
          </a:ln>
        </p:spPr>
      </p:pic>
      <p:pic>
        <p:nvPicPr>
          <p:cNvPr id="10" name="Рисунок 16">
            <a:extLst>
              <a:ext uri="{FF2B5EF4-FFF2-40B4-BE49-F238E27FC236}">
                <a16:creationId xmlns:a16="http://schemas.microsoft.com/office/drawing/2014/main" id="{39163772-5B42-9176-2E6F-E372F1F8376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306756" y="4934335"/>
            <a:ext cx="3708401" cy="2756704"/>
          </a:xfrm>
          <a:prstGeom prst="rect">
            <a:avLst/>
          </a:prstGeom>
          <a:noFill/>
          <a:ln>
            <a:noFill/>
          </a:ln>
        </p:spPr>
      </p:pic>
    </p:spTree>
    <p:extLst>
      <p:ext uri="{BB962C8B-B14F-4D97-AF65-F5344CB8AC3E}">
        <p14:creationId xmlns:p14="http://schemas.microsoft.com/office/powerpoint/2010/main" val="2416621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8A9F407-C094-D44E-D9EC-C418165ECC72}"/>
              </a:ext>
            </a:extLst>
          </p:cNvPr>
          <p:cNvSpPr/>
          <p:nvPr/>
        </p:nvSpPr>
        <p:spPr>
          <a:xfrm>
            <a:off x="793790" y="1367671"/>
            <a:ext cx="11174254" cy="708779"/>
          </a:xfrm>
          <a:prstGeom prst="rect">
            <a:avLst/>
          </a:prstGeom>
          <a:noFill/>
          <a:ln/>
        </p:spPr>
        <p:txBody>
          <a:bodyPr wrap="none" lIns="0" tIns="0" rIns="0" bIns="0" rtlCol="0" anchor="t"/>
          <a:lstStyle/>
          <a:p>
            <a:pPr marL="0" indent="0" algn="l">
              <a:lnSpc>
                <a:spcPts val="5550"/>
              </a:lnSpc>
              <a:buNone/>
            </a:pPr>
            <a:r>
              <a:rPr lang="en-US" sz="4450" dirty="0">
                <a:latin typeface="Crimson Pro Semi Bold" panose="020B0604020202020204" charset="0"/>
                <a:ea typeface="Crimson Pro Semi Bold" pitchFamily="34" charset="-122"/>
                <a:cs typeface="Crimson Pro Semi Bold" pitchFamily="34" charset="-120"/>
              </a:rPr>
              <a:t>SQL сұратымдары: Сұрыптау және топтау</a:t>
            </a:r>
            <a:endParaRPr lang="en-US" sz="4450" dirty="0">
              <a:latin typeface="Crimson Pro Semi Bold" panose="020B0604020202020204" charset="0"/>
            </a:endParaRPr>
          </a:p>
        </p:txBody>
      </p:sp>
      <p:sp>
        <p:nvSpPr>
          <p:cNvPr id="3" name="Text 1">
            <a:extLst>
              <a:ext uri="{FF2B5EF4-FFF2-40B4-BE49-F238E27FC236}">
                <a16:creationId xmlns:a16="http://schemas.microsoft.com/office/drawing/2014/main" id="{B172BB14-D27E-C10B-7288-8717AF2D9413}"/>
              </a:ext>
            </a:extLst>
          </p:cNvPr>
          <p:cNvSpPr/>
          <p:nvPr/>
        </p:nvSpPr>
        <p:spPr>
          <a:xfrm>
            <a:off x="793790" y="2643426"/>
            <a:ext cx="3489722" cy="425291"/>
          </a:xfrm>
          <a:prstGeom prst="rect">
            <a:avLst/>
          </a:prstGeom>
          <a:noFill/>
          <a:ln/>
        </p:spPr>
        <p:txBody>
          <a:bodyPr wrap="none" lIns="0" tIns="0" rIns="0" bIns="0" rtlCol="0" anchor="t"/>
          <a:lstStyle/>
          <a:p>
            <a:pPr marL="0" indent="0" algn="l">
              <a:lnSpc>
                <a:spcPts val="3300"/>
              </a:lnSpc>
              <a:buNone/>
            </a:pPr>
            <a:r>
              <a:rPr lang="en-US" sz="2650" dirty="0">
                <a:latin typeface="Crimson Pro Semi Bold" panose="020B0604020202020204" charset="0"/>
                <a:ea typeface="Crimson Pro Semi Bold" pitchFamily="34" charset="-122"/>
                <a:cs typeface="Crimson Pro Semi Bold" pitchFamily="34" charset="-120"/>
              </a:rPr>
              <a:t>ORDER BY — сұрыптау</a:t>
            </a:r>
            <a:endParaRPr lang="en-US" sz="2650" dirty="0">
              <a:latin typeface="Crimson Pro Semi Bold" panose="020B0604020202020204" charset="0"/>
            </a:endParaRPr>
          </a:p>
        </p:txBody>
      </p:sp>
      <p:sp>
        <p:nvSpPr>
          <p:cNvPr id="4" name="Text 2">
            <a:extLst>
              <a:ext uri="{FF2B5EF4-FFF2-40B4-BE49-F238E27FC236}">
                <a16:creationId xmlns:a16="http://schemas.microsoft.com/office/drawing/2014/main" id="{276BBD61-B135-5696-A120-8724396E5E1C}"/>
              </a:ext>
            </a:extLst>
          </p:cNvPr>
          <p:cNvSpPr/>
          <p:nvPr/>
        </p:nvSpPr>
        <p:spPr>
          <a:xfrm>
            <a:off x="782479" y="3057286"/>
            <a:ext cx="6244709" cy="362903"/>
          </a:xfrm>
          <a:prstGeom prst="rect">
            <a:avLst/>
          </a:prstGeom>
          <a:noFill/>
          <a:ln/>
        </p:spPr>
        <p:txBody>
          <a:bodyPr wrap="non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Жазбаларды өсу немесе кему ретімен көрсетеді.</a:t>
            </a:r>
            <a:endParaRPr lang="en-US" sz="1750" dirty="0">
              <a:latin typeface="Crimson Pro Semi Bold" panose="020B0604020202020204" charset="0"/>
            </a:endParaRPr>
          </a:p>
        </p:txBody>
      </p:sp>
      <p:sp>
        <p:nvSpPr>
          <p:cNvPr id="5" name="Text 3">
            <a:extLst>
              <a:ext uri="{FF2B5EF4-FFF2-40B4-BE49-F238E27FC236}">
                <a16:creationId xmlns:a16="http://schemas.microsoft.com/office/drawing/2014/main" id="{EF7EA0CF-2F2F-E683-FB67-68E096341BDC}"/>
              </a:ext>
            </a:extLst>
          </p:cNvPr>
          <p:cNvSpPr/>
          <p:nvPr/>
        </p:nvSpPr>
        <p:spPr>
          <a:xfrm>
            <a:off x="782479" y="345424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Аспаптарды бағасы бойынша өсу ретімен шығару.</a:t>
            </a:r>
            <a:endParaRPr lang="en-US" sz="1750" dirty="0">
              <a:latin typeface="Crimson Pro Semi Bold" panose="020B0604020202020204" charset="0"/>
            </a:endParaRPr>
          </a:p>
        </p:txBody>
      </p:sp>
      <p:sp>
        <p:nvSpPr>
          <p:cNvPr id="6" name="Text 4">
            <a:extLst>
              <a:ext uri="{FF2B5EF4-FFF2-40B4-BE49-F238E27FC236}">
                <a16:creationId xmlns:a16="http://schemas.microsoft.com/office/drawing/2014/main" id="{0A984FA9-8957-9E88-21DF-88C77EBEB424}"/>
              </a:ext>
            </a:extLst>
          </p:cNvPr>
          <p:cNvSpPr/>
          <p:nvPr/>
        </p:nvSpPr>
        <p:spPr>
          <a:xfrm>
            <a:off x="782478" y="381714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Клиенттерді аты бойынша сұрыптау.</a:t>
            </a:r>
            <a:endParaRPr lang="en-US" sz="1750" dirty="0">
              <a:latin typeface="Crimson Pro Semi Bold" panose="020B0604020202020204" charset="0"/>
            </a:endParaRPr>
          </a:p>
        </p:txBody>
      </p:sp>
      <p:sp>
        <p:nvSpPr>
          <p:cNvPr id="10" name="Text 8">
            <a:extLst>
              <a:ext uri="{FF2B5EF4-FFF2-40B4-BE49-F238E27FC236}">
                <a16:creationId xmlns:a16="http://schemas.microsoft.com/office/drawing/2014/main" id="{41566DEF-7FF8-7F38-FF83-4429147BBB98}"/>
              </a:ext>
            </a:extLst>
          </p:cNvPr>
          <p:cNvSpPr/>
          <p:nvPr/>
        </p:nvSpPr>
        <p:spPr>
          <a:xfrm>
            <a:off x="7599521" y="2643426"/>
            <a:ext cx="3402330" cy="425291"/>
          </a:xfrm>
          <a:prstGeom prst="rect">
            <a:avLst/>
          </a:prstGeom>
          <a:noFill/>
          <a:ln/>
        </p:spPr>
        <p:txBody>
          <a:bodyPr wrap="none" lIns="0" tIns="0" rIns="0" bIns="0" rtlCol="0" anchor="t"/>
          <a:lstStyle/>
          <a:p>
            <a:pPr marL="0" indent="0" algn="l">
              <a:lnSpc>
                <a:spcPts val="3300"/>
              </a:lnSpc>
              <a:buNone/>
            </a:pPr>
            <a:r>
              <a:rPr lang="en-US" sz="2650" dirty="0">
                <a:latin typeface="Crimson Pro Semi Bold" panose="020B0604020202020204" charset="0"/>
                <a:ea typeface="Crimson Pro Semi Bold" pitchFamily="34" charset="-122"/>
                <a:cs typeface="Crimson Pro Semi Bold" pitchFamily="34" charset="-120"/>
              </a:rPr>
              <a:t>GROUP BY — топтау</a:t>
            </a:r>
            <a:endParaRPr lang="en-US" sz="2650" dirty="0">
              <a:latin typeface="Crimson Pro Semi Bold" panose="020B0604020202020204" charset="0"/>
            </a:endParaRPr>
          </a:p>
        </p:txBody>
      </p:sp>
      <p:sp>
        <p:nvSpPr>
          <p:cNvPr id="11" name="Text 9">
            <a:extLst>
              <a:ext uri="{FF2B5EF4-FFF2-40B4-BE49-F238E27FC236}">
                <a16:creationId xmlns:a16="http://schemas.microsoft.com/office/drawing/2014/main" id="{DEEC2CE2-16A7-84AB-DD95-9F578E2F29F2}"/>
              </a:ext>
            </a:extLst>
          </p:cNvPr>
          <p:cNvSpPr/>
          <p:nvPr/>
        </p:nvSpPr>
        <p:spPr>
          <a:xfrm>
            <a:off x="7588210" y="3102708"/>
            <a:ext cx="6244709" cy="362903"/>
          </a:xfrm>
          <a:prstGeom prst="rect">
            <a:avLst/>
          </a:prstGeom>
          <a:noFill/>
          <a:ln/>
        </p:spPr>
        <p:txBody>
          <a:bodyPr wrap="non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Мәліметтерді ортақ белгілеріне қарай біріктіреді.</a:t>
            </a:r>
            <a:endParaRPr lang="en-US" sz="1750" dirty="0">
              <a:latin typeface="Crimson Pro Semi Bold" panose="020B0604020202020204" charset="0"/>
            </a:endParaRPr>
          </a:p>
        </p:txBody>
      </p:sp>
      <p:sp>
        <p:nvSpPr>
          <p:cNvPr id="12" name="Text 10">
            <a:extLst>
              <a:ext uri="{FF2B5EF4-FFF2-40B4-BE49-F238E27FC236}">
                <a16:creationId xmlns:a16="http://schemas.microsoft.com/office/drawing/2014/main" id="{53F25620-3C0E-5A4D-7637-51806F24CD2F}"/>
              </a:ext>
            </a:extLst>
          </p:cNvPr>
          <p:cNvSpPr/>
          <p:nvPr/>
        </p:nvSpPr>
        <p:spPr>
          <a:xfrm>
            <a:off x="7588209" y="349960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Қызметкерлердің жалпы сатылым сомасы.</a:t>
            </a:r>
            <a:endParaRPr lang="en-US" sz="1750" dirty="0">
              <a:latin typeface="Crimson Pro Semi Bold" panose="020B0604020202020204" charset="0"/>
            </a:endParaRPr>
          </a:p>
        </p:txBody>
      </p:sp>
      <p:sp>
        <p:nvSpPr>
          <p:cNvPr id="13" name="Text 11">
            <a:extLst>
              <a:ext uri="{FF2B5EF4-FFF2-40B4-BE49-F238E27FC236}">
                <a16:creationId xmlns:a16="http://schemas.microsoft.com/office/drawing/2014/main" id="{0344C531-8C6E-3AC1-19CD-A3A9D38B0314}"/>
              </a:ext>
            </a:extLst>
          </p:cNvPr>
          <p:cNvSpPr/>
          <p:nvPr/>
        </p:nvSpPr>
        <p:spPr>
          <a:xfrm>
            <a:off x="7588208" y="385107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Crimson Pro Semi Bold" panose="020B0604020202020204" charset="0"/>
                <a:ea typeface="Heebo" pitchFamily="34" charset="-122"/>
                <a:cs typeface="Heebo" pitchFamily="34" charset="-120"/>
              </a:rPr>
              <a:t>Өндірушілер бойынша сатылған аспап саны.</a:t>
            </a:r>
            <a:endParaRPr lang="en-US" sz="1750" dirty="0">
              <a:latin typeface="Crimson Pro Semi Bold" panose="020B0604020202020204" charset="0"/>
            </a:endParaRPr>
          </a:p>
        </p:txBody>
      </p:sp>
      <p:sp>
        <p:nvSpPr>
          <p:cNvPr id="17" name="Text 15">
            <a:extLst>
              <a:ext uri="{FF2B5EF4-FFF2-40B4-BE49-F238E27FC236}">
                <a16:creationId xmlns:a16="http://schemas.microsoft.com/office/drawing/2014/main" id="{3907CE47-05DD-3A82-690D-43ED6A7E7A55}"/>
              </a:ext>
            </a:extLst>
          </p:cNvPr>
          <p:cNvSpPr/>
          <p:nvPr/>
        </p:nvSpPr>
        <p:spPr>
          <a:xfrm>
            <a:off x="793790" y="6696191"/>
            <a:ext cx="13042821" cy="362903"/>
          </a:xfrm>
          <a:prstGeom prst="rect">
            <a:avLst/>
          </a:prstGeom>
          <a:noFill/>
          <a:ln/>
        </p:spPr>
        <p:txBody>
          <a:bodyPr wrap="none" lIns="0" tIns="0" rIns="0" bIns="0" rtlCol="0" anchor="t"/>
          <a:lstStyle/>
          <a:p>
            <a:pPr marL="0" indent="0" algn="l">
              <a:lnSpc>
                <a:spcPts val="2850"/>
              </a:lnSpc>
              <a:buNone/>
            </a:pPr>
            <a:r>
              <a:rPr lang="en-US" sz="1750" dirty="0">
                <a:latin typeface="Crimson Pro Semi Bold" panose="020B0604020202020204" charset="0"/>
                <a:ea typeface="Heebo" pitchFamily="34" charset="-122"/>
                <a:cs typeface="Heebo" pitchFamily="34" charset="-120"/>
              </a:rPr>
              <a:t>Бұл сұратымдар сатылым динамикасын талдауға мүмкіндік береді.</a:t>
            </a:r>
            <a:endParaRPr lang="en-US" sz="1750" dirty="0">
              <a:latin typeface="Crimson Pro Semi Bold" panose="020B0604020202020204" charset="0"/>
            </a:endParaRPr>
          </a:p>
        </p:txBody>
      </p:sp>
      <p:pic>
        <p:nvPicPr>
          <p:cNvPr id="18" name="Рисунок 11">
            <a:extLst>
              <a:ext uri="{FF2B5EF4-FFF2-40B4-BE49-F238E27FC236}">
                <a16:creationId xmlns:a16="http://schemas.microsoft.com/office/drawing/2014/main" id="{6FB10ED8-9699-4F7F-A01E-B12F84DE7573}"/>
              </a:ext>
            </a:extLst>
          </p:cNvPr>
          <p:cNvPicPr>
            <a:picLocks noChangeAspect="1"/>
          </p:cNvPicPr>
          <p:nvPr/>
        </p:nvPicPr>
        <p:blipFill>
          <a:blip r:embed="rId2"/>
          <a:stretch>
            <a:fillRect/>
          </a:stretch>
        </p:blipFill>
        <p:spPr>
          <a:xfrm>
            <a:off x="793790" y="4343400"/>
            <a:ext cx="5556210" cy="1713191"/>
          </a:xfrm>
          <a:prstGeom prst="rect">
            <a:avLst/>
          </a:prstGeom>
        </p:spPr>
      </p:pic>
      <p:pic>
        <p:nvPicPr>
          <p:cNvPr id="19" name="Рисунок 12">
            <a:extLst>
              <a:ext uri="{FF2B5EF4-FFF2-40B4-BE49-F238E27FC236}">
                <a16:creationId xmlns:a16="http://schemas.microsoft.com/office/drawing/2014/main" id="{0CB1AC87-5E15-81D5-F2FD-D332F43CDFA5}"/>
              </a:ext>
            </a:extLst>
          </p:cNvPr>
          <p:cNvPicPr>
            <a:picLocks noChangeAspect="1"/>
          </p:cNvPicPr>
          <p:nvPr/>
        </p:nvPicPr>
        <p:blipFill>
          <a:blip r:embed="rId3"/>
          <a:stretch>
            <a:fillRect/>
          </a:stretch>
        </p:blipFill>
        <p:spPr>
          <a:xfrm>
            <a:off x="7588208" y="4272873"/>
            <a:ext cx="5486400" cy="2259965"/>
          </a:xfrm>
          <a:prstGeom prst="rect">
            <a:avLst/>
          </a:prstGeom>
        </p:spPr>
      </p:pic>
    </p:spTree>
    <p:extLst>
      <p:ext uri="{BB962C8B-B14F-4D97-AF65-F5344CB8AC3E}">
        <p14:creationId xmlns:p14="http://schemas.microsoft.com/office/powerpoint/2010/main" val="1571439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0D64DE1-7E8A-7710-4652-C496407F90FD}"/>
              </a:ext>
            </a:extLst>
          </p:cNvPr>
          <p:cNvSpPr/>
          <p:nvPr/>
        </p:nvSpPr>
        <p:spPr>
          <a:xfrm>
            <a:off x="781526" y="614005"/>
            <a:ext cx="13067348" cy="1395651"/>
          </a:xfrm>
          <a:prstGeom prst="rect">
            <a:avLst/>
          </a:prstGeom>
          <a:noFill/>
          <a:ln/>
        </p:spPr>
        <p:txBody>
          <a:bodyPr wrap="square" lIns="0" tIns="0" rIns="0" bIns="0" rtlCol="0" anchor="t"/>
          <a:lstStyle/>
          <a:p>
            <a:pPr marL="0" indent="0" algn="l">
              <a:lnSpc>
                <a:spcPts val="5450"/>
              </a:lnSpc>
              <a:buNone/>
            </a:pPr>
            <a:r>
              <a:rPr lang="en-US" sz="4350" dirty="0">
                <a:latin typeface="Crimson Pro Semi Bold" panose="020B0604020202020204" charset="0"/>
                <a:ea typeface="Crimson Pro Semi Bold" pitchFamily="34" charset="-122"/>
                <a:cs typeface="Crimson Pro Semi Bold" pitchFamily="34" charset="-120"/>
              </a:rPr>
              <a:t>SQL: UNION, агрегаттық функциялар және кірістірілген сұратымдар</a:t>
            </a:r>
            <a:endParaRPr lang="en-US" sz="4350" dirty="0">
              <a:latin typeface="Crimson Pro Semi Bold" panose="020B0604020202020204" charset="0"/>
            </a:endParaRPr>
          </a:p>
        </p:txBody>
      </p:sp>
      <p:sp>
        <p:nvSpPr>
          <p:cNvPr id="4" name="Text 1">
            <a:extLst>
              <a:ext uri="{FF2B5EF4-FFF2-40B4-BE49-F238E27FC236}">
                <a16:creationId xmlns:a16="http://schemas.microsoft.com/office/drawing/2014/main" id="{8A2B2617-E08D-361E-10B5-9CCA6FFA85A1}"/>
              </a:ext>
            </a:extLst>
          </p:cNvPr>
          <p:cNvSpPr/>
          <p:nvPr/>
        </p:nvSpPr>
        <p:spPr>
          <a:xfrm>
            <a:off x="928806" y="2316322"/>
            <a:ext cx="2791301" cy="348853"/>
          </a:xfrm>
          <a:prstGeom prst="rect">
            <a:avLst/>
          </a:prstGeom>
          <a:noFill/>
          <a:ln/>
        </p:spPr>
        <p:txBody>
          <a:bodyPr wrap="none" lIns="0" tIns="0" rIns="0" bIns="0" rtlCol="0" anchor="t"/>
          <a:lstStyle/>
          <a:p>
            <a:pPr marL="0" indent="0" algn="l">
              <a:lnSpc>
                <a:spcPts val="2700"/>
              </a:lnSpc>
              <a:buNone/>
            </a:pPr>
            <a:r>
              <a:rPr lang="en-US" sz="2150" dirty="0">
                <a:latin typeface="Crimson Pro Semi Bold" panose="020B0604020202020204" charset="0"/>
                <a:ea typeface="Crimson Pro Semi Bold" pitchFamily="34" charset="-122"/>
                <a:cs typeface="Crimson Pro Semi Bold" pitchFamily="34" charset="-120"/>
              </a:rPr>
              <a:t>UNION</a:t>
            </a:r>
            <a:endParaRPr lang="en-US" sz="2150" dirty="0">
              <a:latin typeface="Crimson Pro Semi Bold" panose="020B0604020202020204" charset="0"/>
            </a:endParaRPr>
          </a:p>
        </p:txBody>
      </p:sp>
      <p:sp>
        <p:nvSpPr>
          <p:cNvPr id="5" name="Text 2">
            <a:extLst>
              <a:ext uri="{FF2B5EF4-FFF2-40B4-BE49-F238E27FC236}">
                <a16:creationId xmlns:a16="http://schemas.microsoft.com/office/drawing/2014/main" id="{6DF05BDC-1821-0C03-EC32-5346399C1B67}"/>
              </a:ext>
            </a:extLst>
          </p:cNvPr>
          <p:cNvSpPr/>
          <p:nvPr/>
        </p:nvSpPr>
        <p:spPr>
          <a:xfrm>
            <a:off x="928806" y="2665175"/>
            <a:ext cx="3909298" cy="1429226"/>
          </a:xfrm>
          <a:prstGeom prst="rect">
            <a:avLst/>
          </a:prstGeom>
          <a:noFill/>
          <a:ln/>
        </p:spPr>
        <p:txBody>
          <a:bodyPr wrap="square" lIns="0" tIns="0" rIns="0" bIns="0" rtlCol="0" anchor="t"/>
          <a:lstStyle/>
          <a:p>
            <a:pPr marL="0" indent="0" algn="l">
              <a:lnSpc>
                <a:spcPts val="2800"/>
              </a:lnSpc>
              <a:buNone/>
            </a:pPr>
            <a:r>
              <a:rPr lang="en-US" sz="1750" dirty="0">
                <a:latin typeface="Crimson Pro Semi Bold" panose="020B0604020202020204" charset="0"/>
                <a:ea typeface="Heebo" pitchFamily="34" charset="-122"/>
                <a:cs typeface="Heebo" pitchFamily="34" charset="-120"/>
              </a:rPr>
              <a:t>Екі кестедегі ұқсас бағандарды бір тізімге біріктіреді. Мысалы: Клиенттер мен қызметкерлердің аттарын бір тізімде көрсету.</a:t>
            </a:r>
            <a:endParaRPr lang="en-US" sz="1750" dirty="0">
              <a:latin typeface="Crimson Pro Semi Bold" panose="020B0604020202020204" charset="0"/>
            </a:endParaRPr>
          </a:p>
        </p:txBody>
      </p:sp>
      <p:sp>
        <p:nvSpPr>
          <p:cNvPr id="10" name="Text 6">
            <a:extLst>
              <a:ext uri="{FF2B5EF4-FFF2-40B4-BE49-F238E27FC236}">
                <a16:creationId xmlns:a16="http://schemas.microsoft.com/office/drawing/2014/main" id="{B6380416-B754-0D16-7AF8-63EE05399AF9}"/>
              </a:ext>
            </a:extLst>
          </p:cNvPr>
          <p:cNvSpPr/>
          <p:nvPr/>
        </p:nvSpPr>
        <p:spPr>
          <a:xfrm>
            <a:off x="5360551" y="2316322"/>
            <a:ext cx="3234333" cy="348853"/>
          </a:xfrm>
          <a:prstGeom prst="rect">
            <a:avLst/>
          </a:prstGeom>
          <a:noFill/>
          <a:ln/>
        </p:spPr>
        <p:txBody>
          <a:bodyPr wrap="none" lIns="0" tIns="0" rIns="0" bIns="0" rtlCol="0" anchor="t"/>
          <a:lstStyle/>
          <a:p>
            <a:pPr marL="0" indent="0" algn="l">
              <a:lnSpc>
                <a:spcPts val="2700"/>
              </a:lnSpc>
              <a:buNone/>
            </a:pPr>
            <a:r>
              <a:rPr lang="en-US" sz="2150" dirty="0">
                <a:latin typeface="Crimson Pro Semi Bold" panose="020B0604020202020204" charset="0"/>
                <a:ea typeface="Crimson Pro Semi Bold" pitchFamily="34" charset="-122"/>
                <a:cs typeface="Crimson Pro Semi Bold" pitchFamily="34" charset="-120"/>
              </a:rPr>
              <a:t>Агрегаттық функциялар</a:t>
            </a:r>
            <a:endParaRPr lang="en-US" sz="2150" dirty="0">
              <a:latin typeface="Crimson Pro Semi Bold" panose="020B0604020202020204" charset="0"/>
            </a:endParaRPr>
          </a:p>
        </p:txBody>
      </p:sp>
      <p:sp>
        <p:nvSpPr>
          <p:cNvPr id="11" name="Text 7">
            <a:extLst>
              <a:ext uri="{FF2B5EF4-FFF2-40B4-BE49-F238E27FC236}">
                <a16:creationId xmlns:a16="http://schemas.microsoft.com/office/drawing/2014/main" id="{F45D4478-6741-B535-9E56-17D01CFFD818}"/>
              </a:ext>
            </a:extLst>
          </p:cNvPr>
          <p:cNvSpPr/>
          <p:nvPr/>
        </p:nvSpPr>
        <p:spPr>
          <a:xfrm>
            <a:off x="5322569" y="2685574"/>
            <a:ext cx="3909298" cy="1429226"/>
          </a:xfrm>
          <a:prstGeom prst="rect">
            <a:avLst/>
          </a:prstGeom>
          <a:noFill/>
          <a:ln/>
        </p:spPr>
        <p:txBody>
          <a:bodyPr wrap="square" lIns="0" tIns="0" rIns="0" bIns="0" rtlCol="0" anchor="t"/>
          <a:lstStyle/>
          <a:p>
            <a:pPr marL="0" indent="0" algn="l">
              <a:lnSpc>
                <a:spcPts val="2800"/>
              </a:lnSpc>
              <a:buNone/>
            </a:pPr>
            <a:r>
              <a:rPr lang="en-US" sz="1750" dirty="0">
                <a:latin typeface="Crimson Pro Semi Bold" panose="020B0604020202020204" charset="0"/>
                <a:ea typeface="Heebo" pitchFamily="34" charset="-122"/>
                <a:cs typeface="Heebo" pitchFamily="34" charset="-120"/>
              </a:rPr>
              <a:t>COUNT(), SUM(), AVG(), MIN(), MAX() арқылы сатылым санын, жалпы табысты, орташа және ең төмен/жоғары бағаны анықтау.</a:t>
            </a:r>
            <a:endParaRPr lang="en-US" sz="1750" dirty="0">
              <a:latin typeface="Crimson Pro Semi Bold" panose="020B0604020202020204" charset="0"/>
            </a:endParaRPr>
          </a:p>
        </p:txBody>
      </p:sp>
      <p:sp>
        <p:nvSpPr>
          <p:cNvPr id="13" name="Text 8">
            <a:extLst>
              <a:ext uri="{FF2B5EF4-FFF2-40B4-BE49-F238E27FC236}">
                <a16:creationId xmlns:a16="http://schemas.microsoft.com/office/drawing/2014/main" id="{6F711AF9-1324-5F7B-101C-AE742779B9DD}"/>
              </a:ext>
            </a:extLst>
          </p:cNvPr>
          <p:cNvSpPr/>
          <p:nvPr/>
        </p:nvSpPr>
        <p:spPr>
          <a:xfrm>
            <a:off x="9716333" y="2316322"/>
            <a:ext cx="2874407" cy="348853"/>
          </a:xfrm>
          <a:prstGeom prst="rect">
            <a:avLst/>
          </a:prstGeom>
          <a:noFill/>
          <a:ln/>
        </p:spPr>
        <p:txBody>
          <a:bodyPr wrap="none" lIns="0" tIns="0" rIns="0" bIns="0" rtlCol="0" anchor="t"/>
          <a:lstStyle/>
          <a:p>
            <a:pPr marL="0" indent="0" algn="l">
              <a:lnSpc>
                <a:spcPts val="2700"/>
              </a:lnSpc>
              <a:buNone/>
            </a:pPr>
            <a:r>
              <a:rPr lang="en-US" sz="2150" dirty="0">
                <a:latin typeface="Crimson Pro Semi Bold" panose="020B0604020202020204" charset="0"/>
                <a:ea typeface="Crimson Pro Semi Bold" pitchFamily="34" charset="-122"/>
                <a:cs typeface="Crimson Pro Semi Bold" pitchFamily="34" charset="-120"/>
              </a:rPr>
              <a:t>Кірістірілген сұратым</a:t>
            </a:r>
            <a:endParaRPr lang="en-US" sz="2150" dirty="0">
              <a:latin typeface="Crimson Pro Semi Bold" panose="020B0604020202020204" charset="0"/>
            </a:endParaRPr>
          </a:p>
        </p:txBody>
      </p:sp>
      <p:sp>
        <p:nvSpPr>
          <p:cNvPr id="14" name="Text 9">
            <a:extLst>
              <a:ext uri="{FF2B5EF4-FFF2-40B4-BE49-F238E27FC236}">
                <a16:creationId xmlns:a16="http://schemas.microsoft.com/office/drawing/2014/main" id="{8A68B942-3E5D-260F-3BB1-BAE496F7DC17}"/>
              </a:ext>
            </a:extLst>
          </p:cNvPr>
          <p:cNvSpPr/>
          <p:nvPr/>
        </p:nvSpPr>
        <p:spPr>
          <a:xfrm>
            <a:off x="9727407" y="2665175"/>
            <a:ext cx="3909298" cy="714613"/>
          </a:xfrm>
          <a:prstGeom prst="rect">
            <a:avLst/>
          </a:prstGeom>
          <a:noFill/>
          <a:ln/>
        </p:spPr>
        <p:txBody>
          <a:bodyPr wrap="square" lIns="0" tIns="0" rIns="0" bIns="0" rtlCol="0" anchor="t"/>
          <a:lstStyle/>
          <a:p>
            <a:pPr marL="0" indent="0" algn="l">
              <a:lnSpc>
                <a:spcPts val="2800"/>
              </a:lnSpc>
              <a:buNone/>
            </a:pPr>
            <a:r>
              <a:rPr lang="en-US" sz="1750" dirty="0">
                <a:latin typeface="Crimson Pro Semi Bold" panose="020B0604020202020204" charset="0"/>
                <a:ea typeface="Heebo" pitchFamily="34" charset="-122"/>
                <a:cs typeface="Heebo" pitchFamily="34" charset="-120"/>
              </a:rPr>
              <a:t>Орташа бағадан қымбат сатылымдарды табу.</a:t>
            </a:r>
            <a:endParaRPr lang="en-US" sz="1750" dirty="0">
              <a:latin typeface="Crimson Pro Semi Bold" panose="020B0604020202020204" charset="0"/>
            </a:endParaRPr>
          </a:p>
        </p:txBody>
      </p:sp>
      <p:sp>
        <p:nvSpPr>
          <p:cNvPr id="18" name="Text 13">
            <a:extLst>
              <a:ext uri="{FF2B5EF4-FFF2-40B4-BE49-F238E27FC236}">
                <a16:creationId xmlns:a16="http://schemas.microsoft.com/office/drawing/2014/main" id="{D2FBCA8D-0EFF-D420-AC45-BECF450CF422}"/>
              </a:ext>
            </a:extLst>
          </p:cNvPr>
          <p:cNvSpPr/>
          <p:nvPr/>
        </p:nvSpPr>
        <p:spPr>
          <a:xfrm>
            <a:off x="781526" y="6661326"/>
            <a:ext cx="13067348" cy="357307"/>
          </a:xfrm>
          <a:prstGeom prst="rect">
            <a:avLst/>
          </a:prstGeom>
          <a:noFill/>
          <a:ln/>
        </p:spPr>
        <p:txBody>
          <a:bodyPr wrap="none" lIns="0" tIns="0" rIns="0" bIns="0" rtlCol="0" anchor="t"/>
          <a:lstStyle/>
          <a:p>
            <a:pPr marL="0" indent="0" algn="l">
              <a:lnSpc>
                <a:spcPts val="2800"/>
              </a:lnSpc>
              <a:buNone/>
            </a:pPr>
            <a:r>
              <a:rPr lang="en-US" sz="1750" dirty="0">
                <a:latin typeface="Crimson Pro Semi Bold" panose="020B0604020202020204" charset="0"/>
                <a:ea typeface="Heebo" pitchFamily="34" charset="-122"/>
                <a:cs typeface="Heebo" pitchFamily="34" charset="-120"/>
              </a:rPr>
              <a:t>Бұл функциялар күрделі аналитика жасауға мүмкіндік береді.</a:t>
            </a:r>
            <a:endParaRPr lang="en-US" sz="1750" dirty="0">
              <a:latin typeface="Crimson Pro Semi Bold" panose="020B0604020202020204" charset="0"/>
            </a:endParaRPr>
          </a:p>
        </p:txBody>
      </p:sp>
      <p:pic>
        <p:nvPicPr>
          <p:cNvPr id="19" name="Рисунок 13">
            <a:extLst>
              <a:ext uri="{FF2B5EF4-FFF2-40B4-BE49-F238E27FC236}">
                <a16:creationId xmlns:a16="http://schemas.microsoft.com/office/drawing/2014/main" id="{91C2B06E-A69C-95EE-FBF2-B0FFF62470AF}"/>
              </a:ext>
            </a:extLst>
          </p:cNvPr>
          <p:cNvPicPr>
            <a:picLocks noChangeAspect="1"/>
          </p:cNvPicPr>
          <p:nvPr/>
        </p:nvPicPr>
        <p:blipFill>
          <a:blip r:embed="rId2"/>
          <a:stretch>
            <a:fillRect/>
          </a:stretch>
        </p:blipFill>
        <p:spPr>
          <a:xfrm>
            <a:off x="928806" y="4181237"/>
            <a:ext cx="4339351" cy="2057003"/>
          </a:xfrm>
          <a:prstGeom prst="rect">
            <a:avLst/>
          </a:prstGeom>
        </p:spPr>
      </p:pic>
      <p:pic>
        <p:nvPicPr>
          <p:cNvPr id="20" name="Рисунок 23">
            <a:extLst>
              <a:ext uri="{FF2B5EF4-FFF2-40B4-BE49-F238E27FC236}">
                <a16:creationId xmlns:a16="http://schemas.microsoft.com/office/drawing/2014/main" id="{FFE26F07-21CF-5CB5-D035-DD093CA7C940}"/>
              </a:ext>
            </a:extLst>
          </p:cNvPr>
          <p:cNvPicPr>
            <a:picLocks noChangeAspect="1"/>
          </p:cNvPicPr>
          <p:nvPr/>
        </p:nvPicPr>
        <p:blipFill>
          <a:blip r:embed="rId3"/>
          <a:stretch>
            <a:fillRect/>
          </a:stretch>
        </p:blipFill>
        <p:spPr>
          <a:xfrm>
            <a:off x="5268157" y="4187567"/>
            <a:ext cx="4448175" cy="2050673"/>
          </a:xfrm>
          <a:prstGeom prst="rect">
            <a:avLst/>
          </a:prstGeom>
        </p:spPr>
      </p:pic>
      <p:pic>
        <p:nvPicPr>
          <p:cNvPr id="22" name="Рисунок 24">
            <a:extLst>
              <a:ext uri="{FF2B5EF4-FFF2-40B4-BE49-F238E27FC236}">
                <a16:creationId xmlns:a16="http://schemas.microsoft.com/office/drawing/2014/main" id="{9D528642-A333-6E92-89B8-FC263C11F3A5}"/>
              </a:ext>
            </a:extLst>
          </p:cNvPr>
          <p:cNvPicPr>
            <a:picLocks noChangeAspect="1"/>
          </p:cNvPicPr>
          <p:nvPr/>
        </p:nvPicPr>
        <p:blipFill>
          <a:blip r:embed="rId4"/>
          <a:stretch>
            <a:fillRect/>
          </a:stretch>
        </p:blipFill>
        <p:spPr>
          <a:xfrm>
            <a:off x="9679151" y="4181236"/>
            <a:ext cx="4339350" cy="2050673"/>
          </a:xfrm>
          <a:prstGeom prst="rect">
            <a:avLst/>
          </a:prstGeom>
        </p:spPr>
      </p:pic>
    </p:spTree>
    <p:extLst>
      <p:ext uri="{BB962C8B-B14F-4D97-AF65-F5344CB8AC3E}">
        <p14:creationId xmlns:p14="http://schemas.microsoft.com/office/powerpoint/2010/main" val="3374194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55C9CD3-ABEC-264E-2103-DE5748F4B481}"/>
              </a:ext>
            </a:extLst>
          </p:cNvPr>
          <p:cNvSpPr/>
          <p:nvPr/>
        </p:nvSpPr>
        <p:spPr>
          <a:xfrm>
            <a:off x="801409" y="695305"/>
            <a:ext cx="13042821" cy="1417558"/>
          </a:xfrm>
          <a:prstGeom prst="rect">
            <a:avLst/>
          </a:prstGeom>
          <a:noFill/>
          <a:ln/>
        </p:spPr>
        <p:txBody>
          <a:bodyPr wrap="square" lIns="0" tIns="0" rIns="0" bIns="0" rtlCol="0" anchor="t"/>
          <a:lstStyle/>
          <a:p>
            <a:pPr marL="0" indent="0" algn="l">
              <a:lnSpc>
                <a:spcPts val="5550"/>
              </a:lnSpc>
              <a:buNone/>
            </a:pPr>
            <a:r>
              <a:rPr lang="en-US" sz="4450" dirty="0">
                <a:latin typeface="Times New Roman" panose="02020603050405020304" pitchFamily="18" charset="0"/>
                <a:ea typeface="Crimson Pro Semi Bold" pitchFamily="34" charset="-122"/>
                <a:cs typeface="Times New Roman" panose="02020603050405020304" pitchFamily="18" charset="0"/>
              </a:rPr>
              <a:t>Веб-сайт: Қолданушы бөлігі және сатып алу процесі</a:t>
            </a:r>
            <a:endParaRPr lang="en-US" sz="445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7055C3AD-74AF-8E15-D761-4165FF67CEEF}"/>
              </a:ext>
            </a:extLst>
          </p:cNvPr>
          <p:cNvSpPr/>
          <p:nvPr/>
        </p:nvSpPr>
        <p:spPr>
          <a:xfrm>
            <a:off x="801409" y="2187464"/>
            <a:ext cx="4097162" cy="1965352"/>
          </a:xfrm>
          <a:prstGeom prst="rect">
            <a:avLst/>
          </a:prstGeom>
          <a:noFill/>
          <a:ln/>
        </p:spPr>
        <p:txBody>
          <a:bodyPr wrap="none" lIns="0" tIns="0" rIns="0" bIns="0" rtlCol="0" anchor="t"/>
          <a:lstStyle/>
          <a:p>
            <a:pPr marL="0" indent="0" algn="l">
              <a:lnSpc>
                <a:spcPts val="3300"/>
              </a:lnSpc>
              <a:buNone/>
            </a:pPr>
            <a:r>
              <a:rPr lang="en-US" sz="2650" dirty="0" err="1">
                <a:latin typeface="Times New Roman" panose="02020603050405020304" pitchFamily="18" charset="0"/>
                <a:ea typeface="Crimson Pro Semi Bold" pitchFamily="34" charset="-122"/>
                <a:cs typeface="Times New Roman" panose="02020603050405020304" pitchFamily="18" charset="0"/>
              </a:rPr>
              <a:t>Қолданушы</a:t>
            </a:r>
            <a:r>
              <a:rPr lang="en-US" sz="2650" dirty="0">
                <a:latin typeface="Times New Roman" panose="02020603050405020304" pitchFamily="18" charset="0"/>
                <a:ea typeface="Crimson Pro Semi Bold" pitchFamily="34" charset="-122"/>
                <a:cs typeface="Times New Roman" panose="02020603050405020304" pitchFamily="18" charset="0"/>
              </a:rPr>
              <a:t> </a:t>
            </a:r>
            <a:r>
              <a:rPr lang="en-US" sz="2650" dirty="0" err="1">
                <a:latin typeface="Times New Roman" panose="02020603050405020304" pitchFamily="18" charset="0"/>
                <a:ea typeface="Crimson Pro Semi Bold" pitchFamily="34" charset="-122"/>
                <a:cs typeface="Times New Roman" panose="02020603050405020304" pitchFamily="18" charset="0"/>
              </a:rPr>
              <a:t>интерфейсі</a:t>
            </a:r>
            <a:endParaRPr lang="kk-KZ" sz="2650" dirty="0">
              <a:latin typeface="Times New Roman" panose="02020603050405020304" pitchFamily="18" charset="0"/>
              <a:ea typeface="Crimson Pro Semi Bold" pitchFamily="34" charset="-122"/>
              <a:cs typeface="Times New Roman" panose="02020603050405020304" pitchFamily="18" charset="0"/>
            </a:endParaRPr>
          </a:p>
          <a:p>
            <a:pPr marL="0" indent="0" algn="l">
              <a:lnSpc>
                <a:spcPts val="3300"/>
              </a:lnSpc>
              <a:buNone/>
            </a:pPr>
            <a:endParaRPr lang="en-US" sz="265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9302C274-E5FC-95B1-1ACC-277066DF28C6}"/>
              </a:ext>
            </a:extLst>
          </p:cNvPr>
          <p:cNvSpPr/>
          <p:nvPr/>
        </p:nvSpPr>
        <p:spPr>
          <a:xfrm>
            <a:off x="859893" y="2628323"/>
            <a:ext cx="6244709" cy="362903"/>
          </a:xfrm>
          <a:prstGeom prst="rect">
            <a:avLst/>
          </a:prstGeom>
          <a:noFill/>
          <a:ln/>
        </p:spPr>
        <p:txBody>
          <a:bodyPr wrap="none" lIns="0" tIns="0" rIns="0" bIns="0" rtlCol="0" anchor="t"/>
          <a:lstStyle/>
          <a:p>
            <a:pPr marL="285750" indent="-285750" algn="l">
              <a:lnSpc>
                <a:spcPts val="2850"/>
              </a:lnSpc>
              <a:buSzPct val="100000"/>
              <a:buFont typeface="Arial" panose="020B0604020202020204" pitchFamily="34" charset="0"/>
              <a:buChar char="•"/>
            </a:pPr>
            <a:r>
              <a:rPr lang="en-US" sz="1750" dirty="0">
                <a:latin typeface="Times New Roman" panose="02020603050405020304" pitchFamily="18" charset="0"/>
                <a:ea typeface="Heebo" pitchFamily="34" charset="-122"/>
                <a:cs typeface="Times New Roman" panose="02020603050405020304" pitchFamily="18" charset="0"/>
              </a:rPr>
              <a:t>Аспаптарды толық тізіммен көру.</a:t>
            </a:r>
            <a:endParaRPr lang="en-US" sz="175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D0EACB8D-4D2F-35B2-3913-201157F718BE}"/>
              </a:ext>
            </a:extLst>
          </p:cNvPr>
          <p:cNvSpPr/>
          <p:nvPr/>
        </p:nvSpPr>
        <p:spPr>
          <a:xfrm>
            <a:off x="859893" y="297450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Аспап атауы бойынша іздеу.</a:t>
            </a:r>
            <a:endParaRPr lang="en-US" sz="1750" dirty="0">
              <a:latin typeface="Times New Roman" panose="02020603050405020304" pitchFamily="18" charset="0"/>
              <a:cs typeface="Times New Roman" panose="02020603050405020304" pitchFamily="18" charset="0"/>
            </a:endParaRPr>
          </a:p>
        </p:txBody>
      </p:sp>
      <p:sp>
        <p:nvSpPr>
          <p:cNvPr id="6" name="Text 4">
            <a:extLst>
              <a:ext uri="{FF2B5EF4-FFF2-40B4-BE49-F238E27FC236}">
                <a16:creationId xmlns:a16="http://schemas.microsoft.com/office/drawing/2014/main" id="{6BCDB5DC-9F90-CE3F-DE27-376908E41DDB}"/>
              </a:ext>
            </a:extLst>
          </p:cNvPr>
          <p:cNvSpPr/>
          <p:nvPr/>
        </p:nvSpPr>
        <p:spPr>
          <a:xfrm>
            <a:off x="859893" y="335648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Түрі мен бағасы бойынша сүзгілер.</a:t>
            </a:r>
            <a:endParaRPr lang="en-US" sz="1750" dirty="0">
              <a:latin typeface="Times New Roman" panose="02020603050405020304" pitchFamily="18" charset="0"/>
              <a:cs typeface="Times New Roman" panose="02020603050405020304" pitchFamily="18" charset="0"/>
            </a:endParaRPr>
          </a:p>
        </p:txBody>
      </p:sp>
      <p:sp>
        <p:nvSpPr>
          <p:cNvPr id="7" name="Text 5">
            <a:extLst>
              <a:ext uri="{FF2B5EF4-FFF2-40B4-BE49-F238E27FC236}">
                <a16:creationId xmlns:a16="http://schemas.microsoft.com/office/drawing/2014/main" id="{224CED8B-66F4-86CE-91C5-5B9DD3BE9923}"/>
              </a:ext>
            </a:extLst>
          </p:cNvPr>
          <p:cNvSpPr/>
          <p:nvPr/>
        </p:nvSpPr>
        <p:spPr>
          <a:xfrm>
            <a:off x="859893" y="371388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Аспап туралы толық ақпарат беті.</a:t>
            </a:r>
            <a:endParaRPr lang="en-US" sz="1750" dirty="0">
              <a:latin typeface="Times New Roman" panose="02020603050405020304" pitchFamily="18" charset="0"/>
              <a:cs typeface="Times New Roman" panose="02020603050405020304" pitchFamily="18" charset="0"/>
            </a:endParaRPr>
          </a:p>
        </p:txBody>
      </p:sp>
      <p:sp>
        <p:nvSpPr>
          <p:cNvPr id="8" name="Text 6">
            <a:extLst>
              <a:ext uri="{FF2B5EF4-FFF2-40B4-BE49-F238E27FC236}">
                <a16:creationId xmlns:a16="http://schemas.microsoft.com/office/drawing/2014/main" id="{29530050-D6BD-203D-D701-2E928F46817F}"/>
              </a:ext>
            </a:extLst>
          </p:cNvPr>
          <p:cNvSpPr/>
          <p:nvPr/>
        </p:nvSpPr>
        <p:spPr>
          <a:xfrm>
            <a:off x="6829629" y="2200544"/>
            <a:ext cx="3402330" cy="425291"/>
          </a:xfrm>
          <a:prstGeom prst="rect">
            <a:avLst/>
          </a:prstGeom>
          <a:noFill/>
          <a:ln/>
        </p:spPr>
        <p:txBody>
          <a:bodyPr wrap="none" lIns="0" tIns="0" rIns="0" bIns="0" rtlCol="0" anchor="t"/>
          <a:lstStyle/>
          <a:p>
            <a:pPr marL="0" indent="0" algn="l">
              <a:lnSpc>
                <a:spcPts val="3300"/>
              </a:lnSpc>
              <a:buNone/>
            </a:pPr>
            <a:r>
              <a:rPr lang="en-US" sz="2650" dirty="0">
                <a:latin typeface="Times New Roman" panose="02020603050405020304" pitchFamily="18" charset="0"/>
                <a:ea typeface="Crimson Pro Semi Bold" pitchFamily="34" charset="-122"/>
                <a:cs typeface="Times New Roman" panose="02020603050405020304" pitchFamily="18" charset="0"/>
              </a:rPr>
              <a:t>Сатып алу процесі</a:t>
            </a:r>
            <a:endParaRPr lang="en-US" sz="2650" dirty="0">
              <a:latin typeface="Times New Roman" panose="02020603050405020304" pitchFamily="18" charset="0"/>
              <a:cs typeface="Times New Roman" panose="02020603050405020304" pitchFamily="18" charset="0"/>
            </a:endParaRPr>
          </a:p>
        </p:txBody>
      </p:sp>
      <p:sp>
        <p:nvSpPr>
          <p:cNvPr id="9" name="Text 7">
            <a:extLst>
              <a:ext uri="{FF2B5EF4-FFF2-40B4-BE49-F238E27FC236}">
                <a16:creationId xmlns:a16="http://schemas.microsoft.com/office/drawing/2014/main" id="{4D5AC33A-6FB6-23A3-04B4-0C7253C3D284}"/>
              </a:ext>
            </a:extLst>
          </p:cNvPr>
          <p:cNvSpPr/>
          <p:nvPr/>
        </p:nvSpPr>
        <p:spPr>
          <a:xfrm>
            <a:off x="6829629" y="262126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Клиент аты-жөні, мекенжайы, телефоны енгізіледі.</a:t>
            </a:r>
            <a:endParaRPr lang="en-US" sz="1750" dirty="0">
              <a:latin typeface="Times New Roman" panose="02020603050405020304" pitchFamily="18" charset="0"/>
              <a:cs typeface="Times New Roman" panose="02020603050405020304" pitchFamily="18" charset="0"/>
            </a:endParaRPr>
          </a:p>
        </p:txBody>
      </p:sp>
      <p:sp>
        <p:nvSpPr>
          <p:cNvPr id="10" name="Text 8">
            <a:extLst>
              <a:ext uri="{FF2B5EF4-FFF2-40B4-BE49-F238E27FC236}">
                <a16:creationId xmlns:a16="http://schemas.microsoft.com/office/drawing/2014/main" id="{FA483CBC-09A3-20AC-AC17-0D9D168FE754}"/>
              </a:ext>
            </a:extLst>
          </p:cNvPr>
          <p:cNvSpPr/>
          <p:nvPr/>
        </p:nvSpPr>
        <p:spPr>
          <a:xfrm>
            <a:off x="6829629" y="292851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Жүйе автоматты түрде тауар бағасын есептейді.</a:t>
            </a:r>
            <a:endParaRPr lang="en-US" sz="1750" dirty="0">
              <a:latin typeface="Times New Roman" panose="02020603050405020304" pitchFamily="18" charset="0"/>
              <a:cs typeface="Times New Roman" panose="02020603050405020304" pitchFamily="18" charset="0"/>
            </a:endParaRPr>
          </a:p>
        </p:txBody>
      </p:sp>
      <p:sp>
        <p:nvSpPr>
          <p:cNvPr id="11" name="Text 9">
            <a:extLst>
              <a:ext uri="{FF2B5EF4-FFF2-40B4-BE49-F238E27FC236}">
                <a16:creationId xmlns:a16="http://schemas.microsoft.com/office/drawing/2014/main" id="{5267C6ED-2883-FC85-7C66-B9F835CEB6D4}"/>
              </a:ext>
            </a:extLst>
          </p:cNvPr>
          <p:cNvSpPr/>
          <p:nvPr/>
        </p:nvSpPr>
        <p:spPr>
          <a:xfrm>
            <a:off x="6829629" y="3318175"/>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Сатылым базасына жазылады.</a:t>
            </a:r>
            <a:endParaRPr lang="en-US" sz="1750" dirty="0">
              <a:latin typeface="Times New Roman" panose="02020603050405020304" pitchFamily="18" charset="0"/>
              <a:cs typeface="Times New Roman" panose="02020603050405020304" pitchFamily="18" charset="0"/>
            </a:endParaRPr>
          </a:p>
        </p:txBody>
      </p:sp>
      <p:sp>
        <p:nvSpPr>
          <p:cNvPr id="12" name="Text 10">
            <a:extLst>
              <a:ext uri="{FF2B5EF4-FFF2-40B4-BE49-F238E27FC236}">
                <a16:creationId xmlns:a16="http://schemas.microsoft.com/office/drawing/2014/main" id="{CCF85DC2-AD6D-3F9D-5F16-0A79E21B21D2}"/>
              </a:ext>
            </a:extLst>
          </p:cNvPr>
          <p:cNvSpPr/>
          <p:nvPr/>
        </p:nvSpPr>
        <p:spPr>
          <a:xfrm>
            <a:off x="6829629" y="369480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latin typeface="Times New Roman" panose="02020603050405020304" pitchFamily="18" charset="0"/>
                <a:ea typeface="Heebo" pitchFamily="34" charset="-122"/>
                <a:cs typeface="Times New Roman" panose="02020603050405020304" pitchFamily="18" charset="0"/>
              </a:rPr>
              <a:t>Қызметкер автоматты түрде тағайындалады.</a:t>
            </a:r>
            <a:endParaRPr lang="en-US" sz="1750" dirty="0">
              <a:latin typeface="Times New Roman" panose="02020603050405020304" pitchFamily="18" charset="0"/>
              <a:cs typeface="Times New Roman" panose="02020603050405020304" pitchFamily="18" charset="0"/>
            </a:endParaRPr>
          </a:p>
        </p:txBody>
      </p:sp>
      <p:sp>
        <p:nvSpPr>
          <p:cNvPr id="13" name="Text 11">
            <a:extLst>
              <a:ext uri="{FF2B5EF4-FFF2-40B4-BE49-F238E27FC236}">
                <a16:creationId xmlns:a16="http://schemas.microsoft.com/office/drawing/2014/main" id="{6703E3D7-C856-639C-7820-BEBCFC16A770}"/>
              </a:ext>
            </a:extLst>
          </p:cNvPr>
          <p:cNvSpPr/>
          <p:nvPr/>
        </p:nvSpPr>
        <p:spPr>
          <a:xfrm>
            <a:off x="859893" y="6678994"/>
            <a:ext cx="13042821" cy="362903"/>
          </a:xfrm>
          <a:prstGeom prst="rect">
            <a:avLst/>
          </a:prstGeom>
          <a:noFill/>
          <a:ln/>
        </p:spPr>
        <p:txBody>
          <a:bodyPr wrap="none" lIns="0" tIns="0" rIns="0" bIns="0" rtlCol="0" anchor="t"/>
          <a:lstStyle/>
          <a:p>
            <a:pPr marL="0" indent="0" algn="l">
              <a:lnSpc>
                <a:spcPts val="2850"/>
              </a:lnSpc>
              <a:buNone/>
            </a:pPr>
            <a:r>
              <a:rPr lang="en-US" sz="1750" dirty="0">
                <a:latin typeface="Times New Roman" panose="02020603050405020304" pitchFamily="18" charset="0"/>
                <a:ea typeface="Heebo" pitchFamily="34" charset="-122"/>
                <a:cs typeface="Times New Roman" panose="02020603050405020304" pitchFamily="18" charset="0"/>
              </a:rPr>
              <a:t>Бұл процесс толық автоматтандырылған, клиенттерге ыңғайлы және жылдам қызмет көрсетеді.</a:t>
            </a:r>
            <a:endParaRPr lang="en-US" sz="175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BDE28A4-A3D1-6235-843D-224AD70B4202}"/>
              </a:ext>
            </a:extLst>
          </p:cNvPr>
          <p:cNvSpPr txBox="1"/>
          <p:nvPr/>
        </p:nvSpPr>
        <p:spPr>
          <a:xfrm>
            <a:off x="801409" y="4258316"/>
            <a:ext cx="7315200" cy="2115964"/>
          </a:xfrm>
          <a:prstGeom prst="rect">
            <a:avLst/>
          </a:prstGeom>
          <a:noFill/>
        </p:spPr>
        <p:txBody>
          <a:bodyPr wrap="square">
            <a:spAutoFit/>
          </a:bodyPr>
          <a:lstStyle/>
          <a:p>
            <a:pPr>
              <a:buNone/>
            </a:pPr>
            <a:r>
              <a:rPr lang="kk-KZ" sz="2650" dirty="0">
                <a:latin typeface="Times New Roman" panose="02020603050405020304" pitchFamily="18" charset="0"/>
                <a:cs typeface="Times New Roman" panose="02020603050405020304" pitchFamily="18" charset="0"/>
              </a:rPr>
              <a:t>Әкімші панелі</a:t>
            </a:r>
          </a:p>
          <a:p>
            <a:r>
              <a:rPr lang="kk-KZ" sz="1750" dirty="0">
                <a:latin typeface="Times New Roman" panose="02020603050405020304" pitchFamily="18" charset="0"/>
                <a:cs typeface="Times New Roman" panose="02020603050405020304" pitchFamily="18" charset="0"/>
              </a:rPr>
              <a:t/>
            </a:r>
            <a:br>
              <a:rPr lang="kk-KZ" sz="1750" dirty="0">
                <a:latin typeface="Times New Roman" panose="02020603050405020304" pitchFamily="18" charset="0"/>
                <a:cs typeface="Times New Roman" panose="02020603050405020304" pitchFamily="18" charset="0"/>
              </a:rPr>
            </a:br>
            <a:endParaRPr lang="en-US" sz="175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750" dirty="0">
              <a:latin typeface="Times New Roman" panose="02020603050405020304" pitchFamily="18" charset="0"/>
              <a:cs typeface="Times New Roman" panose="02020603050405020304" pitchFamily="18" charset="0"/>
            </a:endParaRPr>
          </a:p>
          <a:p>
            <a:r>
              <a:rPr lang="kk-KZ" sz="1750" dirty="0">
                <a:latin typeface="Times New Roman" panose="02020603050405020304" pitchFamily="18" charset="0"/>
                <a:cs typeface="Times New Roman" panose="02020603050405020304" pitchFamily="18" charset="0"/>
              </a:rPr>
              <a:t/>
            </a:r>
            <a:br>
              <a:rPr lang="kk-KZ" sz="1750" dirty="0">
                <a:latin typeface="Times New Roman" panose="02020603050405020304" pitchFamily="18" charset="0"/>
                <a:cs typeface="Times New Roman" panose="02020603050405020304" pitchFamily="18" charset="0"/>
              </a:rPr>
            </a:br>
            <a:endParaRPr lang="en-US" sz="1750" dirty="0">
              <a:latin typeface="Times New Roman" panose="02020603050405020304" pitchFamily="18" charset="0"/>
              <a:cs typeface="Times New Roman" panose="02020603050405020304" pitchFamily="18" charset="0"/>
            </a:endParaRPr>
          </a:p>
          <a:p>
            <a:endParaRPr lang="en-US" sz="1750" dirty="0">
              <a:latin typeface="Times New Roman" panose="02020603050405020304" pitchFamily="18" charset="0"/>
              <a:cs typeface="Times New Roman" panose="02020603050405020304" pitchFamily="18" charset="0"/>
            </a:endParaRPr>
          </a:p>
        </p:txBody>
      </p:sp>
      <p:sp>
        <p:nvSpPr>
          <p:cNvPr id="18" name="Text 7">
            <a:extLst>
              <a:ext uri="{FF2B5EF4-FFF2-40B4-BE49-F238E27FC236}">
                <a16:creationId xmlns:a16="http://schemas.microsoft.com/office/drawing/2014/main" id="{D9B9634A-58F5-9D70-F40C-31EC6C9986E6}"/>
              </a:ext>
            </a:extLst>
          </p:cNvPr>
          <p:cNvSpPr/>
          <p:nvPr/>
        </p:nvSpPr>
        <p:spPr>
          <a:xfrm>
            <a:off x="859893" y="4796458"/>
            <a:ext cx="6244709" cy="362903"/>
          </a:xfrm>
          <a:prstGeom prst="rect">
            <a:avLst/>
          </a:prstGeom>
          <a:noFill/>
          <a:ln/>
        </p:spPr>
        <p:txBody>
          <a:bodyPr wrap="none" lIns="0" tIns="0" rIns="0" bIns="0" rtlCol="0" anchor="t"/>
          <a:lstStyle/>
          <a:p>
            <a:pPr marL="342900" indent="-342900">
              <a:lnSpc>
                <a:spcPts val="2850"/>
              </a:lnSpc>
              <a:buSzPct val="100000"/>
              <a:buChar char="•"/>
            </a:pPr>
            <a:r>
              <a:rPr lang="kk-KZ" sz="1750" dirty="0">
                <a:latin typeface="Times New Roman" panose="02020603050405020304" pitchFamily="18" charset="0"/>
                <a:cs typeface="Times New Roman" panose="02020603050405020304" pitchFamily="18" charset="0"/>
              </a:rPr>
              <a:t>Аспаптарды қосу, өзгерту, жою.</a:t>
            </a:r>
            <a:endParaRPr lang="en-US" sz="175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92873D52-D076-B5C3-8474-9C9CD7AF4589}"/>
              </a:ext>
            </a:extLst>
          </p:cNvPr>
          <p:cNvSpPr txBox="1"/>
          <p:nvPr/>
        </p:nvSpPr>
        <p:spPr>
          <a:xfrm>
            <a:off x="801409" y="5481042"/>
            <a:ext cx="7315200" cy="646331"/>
          </a:xfrm>
          <a:prstGeom prst="rect">
            <a:avLst/>
          </a:prstGeom>
          <a:noFill/>
        </p:spPr>
        <p:txBody>
          <a:bodyPr wrap="square">
            <a:spAutoFit/>
          </a:bodyPr>
          <a:lstStyle/>
          <a:p>
            <a:pPr marL="285750" indent="-285750">
              <a:buFont typeface="Arial" panose="020B0604020202020204" pitchFamily="34" charset="0"/>
              <a:buChar char="•"/>
            </a:pPr>
            <a:r>
              <a:rPr lang="kk-KZ" sz="1800" dirty="0">
                <a:latin typeface="Times New Roman" panose="02020603050405020304" pitchFamily="18" charset="0"/>
                <a:cs typeface="Times New Roman" panose="02020603050405020304" pitchFamily="18" charset="0"/>
              </a:rPr>
              <a:t>Клиенттер мен қызметкерлер тізімін редакциялау.</a:t>
            </a:r>
            <a:br>
              <a:rPr lang="kk-KZ"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8B0FC707-53A3-14CF-D171-1F8FA8C93F1B}"/>
              </a:ext>
            </a:extLst>
          </p:cNvPr>
          <p:cNvSpPr txBox="1"/>
          <p:nvPr/>
        </p:nvSpPr>
        <p:spPr>
          <a:xfrm>
            <a:off x="801409" y="5879626"/>
            <a:ext cx="7315200" cy="646331"/>
          </a:xfrm>
          <a:prstGeom prst="rect">
            <a:avLst/>
          </a:prstGeom>
          <a:noFill/>
        </p:spPr>
        <p:txBody>
          <a:bodyPr wrap="square">
            <a:spAutoFit/>
          </a:bodyPr>
          <a:lstStyle/>
          <a:p>
            <a:pPr marL="285750" indent="-285750">
              <a:buFont typeface="Arial" panose="020B0604020202020204" pitchFamily="34" charset="0"/>
              <a:buChar char="•"/>
            </a:pPr>
            <a:r>
              <a:rPr lang="kk-KZ" sz="1800" dirty="0">
                <a:latin typeface="Times New Roman" panose="02020603050405020304" pitchFamily="18" charset="0"/>
                <a:cs typeface="Times New Roman" panose="02020603050405020304" pitchFamily="18" charset="0"/>
              </a:rPr>
              <a:t>Сатылым тарихын толық көру және бақылау.</a:t>
            </a:r>
            <a:br>
              <a:rPr lang="kk-KZ"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E7B7C50F-8DA0-336D-7378-63F21034B93A}"/>
              </a:ext>
            </a:extLst>
          </p:cNvPr>
          <p:cNvSpPr txBox="1"/>
          <p:nvPr/>
        </p:nvSpPr>
        <p:spPr>
          <a:xfrm>
            <a:off x="801409" y="6237888"/>
            <a:ext cx="7315200" cy="369332"/>
          </a:xfrm>
          <a:prstGeom prst="rect">
            <a:avLst/>
          </a:prstGeom>
          <a:noFill/>
        </p:spPr>
        <p:txBody>
          <a:bodyPr wrap="square">
            <a:spAutoFit/>
          </a:bodyPr>
          <a:lstStyle/>
          <a:p>
            <a:pPr marL="285750" indent="-285750">
              <a:buFont typeface="Arial" panose="020B0604020202020204" pitchFamily="34" charset="0"/>
              <a:buChar char="•"/>
            </a:pPr>
            <a:r>
              <a:rPr lang="kk-KZ" sz="1800" dirty="0">
                <a:latin typeface="Times New Roman" panose="02020603050405020304" pitchFamily="18" charset="0"/>
                <a:cs typeface="Times New Roman" panose="02020603050405020304" pitchFamily="18" charset="0"/>
              </a:rPr>
              <a:t>Барлық ақпаратты орталықтан басқару.</a:t>
            </a:r>
          </a:p>
        </p:txBody>
      </p:sp>
      <p:sp>
        <p:nvSpPr>
          <p:cNvPr id="28" name="TextBox 27">
            <a:extLst>
              <a:ext uri="{FF2B5EF4-FFF2-40B4-BE49-F238E27FC236}">
                <a16:creationId xmlns:a16="http://schemas.microsoft.com/office/drawing/2014/main" id="{5CE4B4E0-7635-5EBA-09FF-794D6586A065}"/>
              </a:ext>
            </a:extLst>
          </p:cNvPr>
          <p:cNvSpPr txBox="1"/>
          <p:nvPr/>
        </p:nvSpPr>
        <p:spPr>
          <a:xfrm>
            <a:off x="764617" y="5142445"/>
            <a:ext cx="7315200" cy="646331"/>
          </a:xfrm>
          <a:prstGeom prst="rect">
            <a:avLst/>
          </a:prstGeom>
          <a:noFill/>
        </p:spPr>
        <p:txBody>
          <a:bodyPr wrap="square">
            <a:spAutoFit/>
          </a:bodyPr>
          <a:lstStyle/>
          <a:p>
            <a:pPr marL="285750" indent="-285750">
              <a:buFont typeface="Arial" panose="020B0604020202020204" pitchFamily="34" charset="0"/>
              <a:buChar char="•"/>
            </a:pPr>
            <a:r>
              <a:rPr lang="kk-KZ" dirty="0">
                <a:latin typeface="Times New Roman" panose="02020603050405020304" pitchFamily="18" charset="0"/>
                <a:cs typeface="Times New Roman" panose="02020603050405020304" pitchFamily="18" charset="0"/>
              </a:rPr>
              <a:t>Аспап түрлері мен өндірушілерді басқару.</a:t>
            </a:r>
            <a:endParaRPr lang="en-US" dirty="0"/>
          </a:p>
          <a:p>
            <a:pPr marL="285750" indent="-285750">
              <a:buFont typeface="Arial" panose="020B0604020202020204" pitchFamily="34" charset="0"/>
              <a:buChar char="•"/>
            </a:pPr>
            <a:endParaRPr lang="kk-KZ"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6335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391921-6D6D-9758-F68B-476B3E532DAF}"/>
              </a:ext>
            </a:extLst>
          </p:cNvPr>
          <p:cNvSpPr txBox="1"/>
          <p:nvPr/>
        </p:nvSpPr>
        <p:spPr>
          <a:xfrm>
            <a:off x="749047" y="496551"/>
            <a:ext cx="12662704" cy="3993401"/>
          </a:xfrm>
          <a:prstGeom prst="rect">
            <a:avLst/>
          </a:prstGeom>
          <a:noFill/>
        </p:spPr>
        <p:txBody>
          <a:bodyPr wrap="square">
            <a:spAutoFit/>
          </a:bodyPr>
          <a:lstStyle/>
          <a:p>
            <a:pPr marL="182880">
              <a:spcAft>
                <a:spcPts val="600"/>
              </a:spcAft>
              <a:buNone/>
            </a:pPr>
            <a:r>
              <a:rPr lang="kk-KZ" sz="2800" b="1" dirty="0" smtClean="0">
                <a:latin typeface="Times New Roman" panose="02020603050405020304" pitchFamily="18" charset="0"/>
                <a:cs typeface="Times New Roman" panose="02020603050405020304" pitchFamily="18" charset="0"/>
              </a:rPr>
              <a:t>Клиенттік қосымшасының әкімші </a:t>
            </a:r>
            <a:r>
              <a:rPr lang="kk-KZ" sz="2800" b="1" dirty="0">
                <a:latin typeface="Times New Roman" panose="02020603050405020304" pitchFamily="18" charset="0"/>
                <a:cs typeface="Times New Roman" panose="02020603050405020304" pitchFamily="18" charset="0"/>
              </a:rPr>
              <a:t>панелі</a:t>
            </a:r>
            <a:endParaRPr lang="en-US" sz="2800" b="1" dirty="0">
              <a:latin typeface="Times New Roman" panose="02020603050405020304" pitchFamily="18" charset="0"/>
              <a:cs typeface="Times New Roman" panose="02020603050405020304" pitchFamily="18" charset="0"/>
            </a:endParaRPr>
          </a:p>
          <a:p>
            <a:pPr marL="182880">
              <a:spcAft>
                <a:spcPts val="600"/>
              </a:spcAft>
              <a:buNone/>
            </a:pPr>
            <a:endParaRPr lang="kk-KZ" sz="2800" b="1" dirty="0">
              <a:latin typeface="Times New Roman" panose="02020603050405020304" pitchFamily="18" charset="0"/>
              <a:cs typeface="Times New Roman" panose="02020603050405020304" pitchFamily="18" charset="0"/>
            </a:endParaRPr>
          </a:p>
          <a:p>
            <a:pPr marL="182880">
              <a:spcAft>
                <a:spcPts val="600"/>
              </a:spcAft>
              <a:buNone/>
            </a:pPr>
            <a:r>
              <a:rPr lang="kk-KZ" sz="1750" dirty="0">
                <a:latin typeface="Times New Roman" panose="02020603050405020304" pitchFamily="18" charset="0"/>
                <a:cs typeface="Times New Roman" panose="02020603050405020304" pitchFamily="18" charset="0"/>
              </a:rPr>
              <a:t>Бұл бөлім дүкеннің барлық ақпараттық жүйесін толық басқаруға арналған. Әкімші аспаптар, клиенттер, сатылымдар, қызметкерлер, өндірушілер және аспап түрлерімен жұмыс істей алады. Басқару тақтасы жүйедегі барлық деректердің құрылымын бақылап, оларды жылдам өңдеуге мүмкіндік береді.</a:t>
            </a:r>
          </a:p>
          <a:p>
            <a:pPr marL="182880">
              <a:spcAft>
                <a:spcPts val="600"/>
              </a:spcAft>
              <a:buNone/>
            </a:pPr>
            <a:r>
              <a:rPr lang="kk-KZ" sz="2000" dirty="0">
                <a:latin typeface="Times New Roman" panose="02020603050405020304" pitchFamily="18" charset="0"/>
                <a:cs typeface="Times New Roman" panose="02020603050405020304" pitchFamily="18" charset="0"/>
              </a:rPr>
              <a:t>Басқару мүмкіндіктері</a:t>
            </a:r>
            <a:r>
              <a:rPr lang="kk-KZ" sz="1750" b="1" dirty="0">
                <a:latin typeface="Times New Roman" panose="02020603050405020304" pitchFamily="18" charset="0"/>
                <a:cs typeface="Times New Roman" panose="02020603050405020304" pitchFamily="18" charset="0"/>
              </a:rPr>
              <a:t>:</a:t>
            </a:r>
          </a:p>
          <a:p>
            <a:pPr marL="182880">
              <a:spcAft>
                <a:spcPts val="600"/>
              </a:spcAft>
              <a:buNone/>
            </a:pPr>
            <a:r>
              <a:rPr lang="kk-KZ" sz="1750" dirty="0">
                <a:latin typeface="Times New Roman" panose="02020603050405020304" pitchFamily="18" charset="0"/>
                <a:cs typeface="Times New Roman" panose="02020603050405020304" pitchFamily="18" charset="0"/>
              </a:rPr>
              <a:t>• Аспаптарды қосу, өзгерту, жою және олардың сипаттамаларын жаңарту</a:t>
            </a:r>
            <a:br>
              <a:rPr lang="kk-KZ" sz="1750" dirty="0">
                <a:latin typeface="Times New Roman" panose="02020603050405020304" pitchFamily="18" charset="0"/>
                <a:cs typeface="Times New Roman" panose="02020603050405020304" pitchFamily="18" charset="0"/>
              </a:rPr>
            </a:br>
            <a:r>
              <a:rPr lang="kk-KZ" sz="1750" dirty="0">
                <a:latin typeface="Times New Roman" panose="02020603050405020304" pitchFamily="18" charset="0"/>
                <a:cs typeface="Times New Roman" panose="02020603050405020304" pitchFamily="18" charset="0"/>
              </a:rPr>
              <a:t>• Клиенттер мен қызметкерлер тізімін басқару, деректерінің дұрыстығын қадағалау</a:t>
            </a:r>
            <a:br>
              <a:rPr lang="kk-KZ" sz="1750" dirty="0">
                <a:latin typeface="Times New Roman" panose="02020603050405020304" pitchFamily="18" charset="0"/>
                <a:cs typeface="Times New Roman" panose="02020603050405020304" pitchFamily="18" charset="0"/>
              </a:rPr>
            </a:br>
            <a:r>
              <a:rPr lang="kk-KZ" sz="1750" dirty="0">
                <a:latin typeface="Times New Roman" panose="02020603050405020304" pitchFamily="18" charset="0"/>
                <a:cs typeface="Times New Roman" panose="02020603050405020304" pitchFamily="18" charset="0"/>
              </a:rPr>
              <a:t>• Сатылым тарихын толық бақылау, қажет жағдайда түзету енгізу</a:t>
            </a:r>
            <a:br>
              <a:rPr lang="kk-KZ" sz="1750" dirty="0">
                <a:latin typeface="Times New Roman" panose="02020603050405020304" pitchFamily="18" charset="0"/>
                <a:cs typeface="Times New Roman" panose="02020603050405020304" pitchFamily="18" charset="0"/>
              </a:rPr>
            </a:br>
            <a:r>
              <a:rPr lang="kk-KZ" sz="1750" dirty="0">
                <a:latin typeface="Times New Roman" panose="02020603050405020304" pitchFamily="18" charset="0"/>
                <a:cs typeface="Times New Roman" panose="02020603050405020304" pitchFamily="18" charset="0"/>
              </a:rPr>
              <a:t>• Өндірушілер мен аспап түрлерін редакциялау, жаңа категорияларды қосу</a:t>
            </a:r>
            <a:br>
              <a:rPr lang="kk-KZ" sz="1750" dirty="0">
                <a:latin typeface="Times New Roman" panose="02020603050405020304" pitchFamily="18" charset="0"/>
                <a:cs typeface="Times New Roman" panose="02020603050405020304" pitchFamily="18" charset="0"/>
              </a:rPr>
            </a:br>
            <a:r>
              <a:rPr lang="kk-KZ" sz="1750" dirty="0">
                <a:latin typeface="Times New Roman" panose="02020603050405020304" pitchFamily="18" charset="0"/>
                <a:cs typeface="Times New Roman" panose="02020603050405020304" pitchFamily="18" charset="0"/>
              </a:rPr>
              <a:t>• Деректердің толықтығы мен өзектілігін сақтау, жүйенің тұрақты жұмысын қамтамасыз ету</a:t>
            </a:r>
            <a:br>
              <a:rPr lang="kk-KZ" sz="1750" dirty="0">
                <a:latin typeface="Times New Roman" panose="02020603050405020304" pitchFamily="18" charset="0"/>
                <a:cs typeface="Times New Roman" panose="02020603050405020304" pitchFamily="18" charset="0"/>
              </a:rPr>
            </a:br>
            <a:r>
              <a:rPr lang="kk-KZ" sz="1750" dirty="0">
                <a:latin typeface="Times New Roman" panose="02020603050405020304" pitchFamily="18" charset="0"/>
                <a:cs typeface="Times New Roman" panose="02020603050405020304" pitchFamily="18" charset="0"/>
              </a:rPr>
              <a:t>• Барлық ақпараттық процестерді орталықтан басқарып, қателіктердің алдын алу</a:t>
            </a:r>
          </a:p>
        </p:txBody>
      </p:sp>
      <p:pic>
        <p:nvPicPr>
          <p:cNvPr id="4" name="Рисунок 10">
            <a:extLst>
              <a:ext uri="{FF2B5EF4-FFF2-40B4-BE49-F238E27FC236}">
                <a16:creationId xmlns:a16="http://schemas.microsoft.com/office/drawing/2014/main" id="{1F1FABCF-B19A-4582-C9D4-A2F6EEADD25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08260" y="4489953"/>
            <a:ext cx="7762240" cy="3434848"/>
          </a:xfrm>
          <a:prstGeom prst="rect">
            <a:avLst/>
          </a:prstGeom>
          <a:noFill/>
          <a:ln>
            <a:noFill/>
          </a:ln>
        </p:spPr>
      </p:pic>
    </p:spTree>
    <p:extLst>
      <p:ext uri="{BB962C8B-B14F-4D97-AF65-F5344CB8AC3E}">
        <p14:creationId xmlns:p14="http://schemas.microsoft.com/office/powerpoint/2010/main" val="4050470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054256-1809-CED7-D6AC-1AC4D7E04EBA}"/>
              </a:ext>
            </a:extLst>
          </p:cNvPr>
          <p:cNvSpPr txBox="1"/>
          <p:nvPr/>
        </p:nvSpPr>
        <p:spPr>
          <a:xfrm>
            <a:off x="820387" y="761899"/>
            <a:ext cx="12740640" cy="2400657"/>
          </a:xfrm>
          <a:prstGeom prst="rect">
            <a:avLst/>
          </a:prstGeom>
          <a:noFill/>
        </p:spPr>
        <p:txBody>
          <a:bodyPr wrap="square">
            <a:spAutoFit/>
          </a:bodyPr>
          <a:lstStyle/>
          <a:p>
            <a:r>
              <a:rPr lang="kk-KZ" sz="2400" b="1" dirty="0" smtClean="0">
                <a:latin typeface="Times New Roman" panose="02020603050405020304" pitchFamily="18" charset="0"/>
                <a:cs typeface="Times New Roman" panose="02020603050405020304" pitchFamily="18" charset="0"/>
              </a:rPr>
              <a:t>Клиенттік қосымшасының к</a:t>
            </a:r>
            <a:r>
              <a:rPr lang="kk-KZ" sz="2400" b="1" dirty="0" smtClean="0">
                <a:latin typeface="Times New Roman" panose="02020603050405020304" pitchFamily="18" charset="0"/>
                <a:cs typeface="Times New Roman" panose="02020603050405020304" pitchFamily="18" charset="0"/>
              </a:rPr>
              <a:t>лиенттер </a:t>
            </a:r>
            <a:r>
              <a:rPr lang="kk-KZ" sz="2400" b="1" dirty="0">
                <a:latin typeface="Times New Roman" panose="02020603050405020304" pitchFamily="18" charset="0"/>
                <a:cs typeface="Times New Roman" panose="02020603050405020304" pitchFamily="18" charset="0"/>
              </a:rPr>
              <a:t>тізімі </a:t>
            </a:r>
            <a:endParaRPr lang="en-US" sz="2400"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kk-KZ" dirty="0">
                <a:latin typeface="Times New Roman" panose="02020603050405020304" pitchFamily="18" charset="0"/>
                <a:cs typeface="Times New Roman" panose="02020603050405020304" pitchFamily="18" charset="0"/>
              </a:rPr>
              <a:t>Бұл бетте дүкеннің барлық клиенттері туралы мәліметтер жүйеленіп сақталады. Кестеде әр клиенттің </a:t>
            </a:r>
            <a:r>
              <a:rPr lang="en-US" dirty="0">
                <a:latin typeface="Times New Roman" panose="02020603050405020304" pitchFamily="18" charset="0"/>
                <a:cs typeface="Times New Roman" panose="02020603050405020304" pitchFamily="18" charset="0"/>
              </a:rPr>
              <a:t>ID </a:t>
            </a:r>
            <a:r>
              <a:rPr lang="kk-KZ" dirty="0">
                <a:latin typeface="Times New Roman" panose="02020603050405020304" pitchFamily="18" charset="0"/>
                <a:cs typeface="Times New Roman" panose="02020603050405020304" pitchFamily="18" charset="0"/>
              </a:rPr>
              <a:t>нөмірі, аты-жөні, мекенжайы және телефон нөмірі көрсетілген. Әкімші осы тізім арқылы клиенттік базаны қарайды, қажет болған жағдайда мәліметтерді жаңартып немесе түзетіп отыра алады.</a:t>
            </a:r>
          </a:p>
          <a:p>
            <a:r>
              <a:rPr lang="kk-KZ" dirty="0">
                <a:latin typeface="Times New Roman" panose="02020603050405020304" pitchFamily="18" charset="0"/>
                <a:cs typeface="Times New Roman" panose="02020603050405020304" pitchFamily="18" charset="0"/>
              </a:rPr>
              <a:t>Клиенттер тізімі сатылымдар кестесімен байланыста жұмыс істейді, сондықтан әр сатып алу нақты клиентпен байланыстырылады. Бұл бөлім клиенттермен кері байланыс орнатуды жеңілдетіп, қызмет көрсету сапасын жақсартуға мүмкіндік береді.</a:t>
            </a:r>
          </a:p>
        </p:txBody>
      </p:sp>
      <p:pic>
        <p:nvPicPr>
          <p:cNvPr id="8" name="Picture 7" descr="A screenshot of a phone&#10;&#10;AI-generated content may be incorrect.">
            <a:extLst>
              <a:ext uri="{FF2B5EF4-FFF2-40B4-BE49-F238E27FC236}">
                <a16:creationId xmlns:a16="http://schemas.microsoft.com/office/drawing/2014/main" id="{AAB1AC81-A994-1A42-F7E4-9FB4518F97EB}"/>
              </a:ext>
            </a:extLst>
          </p:cNvPr>
          <p:cNvPicPr>
            <a:picLocks noChangeAspect="1"/>
          </p:cNvPicPr>
          <p:nvPr/>
        </p:nvPicPr>
        <p:blipFill>
          <a:blip r:embed="rId2"/>
          <a:stretch>
            <a:fillRect/>
          </a:stretch>
        </p:blipFill>
        <p:spPr>
          <a:xfrm>
            <a:off x="2123954" y="3267735"/>
            <a:ext cx="10382492" cy="4695647"/>
          </a:xfrm>
          <a:prstGeom prst="rect">
            <a:avLst/>
          </a:prstGeom>
        </p:spPr>
      </p:pic>
    </p:spTree>
    <p:extLst>
      <p:ext uri="{BB962C8B-B14F-4D97-AF65-F5344CB8AC3E}">
        <p14:creationId xmlns:p14="http://schemas.microsoft.com/office/powerpoint/2010/main" val="2229206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4DD13A-8EA4-276B-56A6-3C2584A90237}"/>
              </a:ext>
            </a:extLst>
          </p:cNvPr>
          <p:cNvSpPr txBox="1"/>
          <p:nvPr/>
        </p:nvSpPr>
        <p:spPr>
          <a:xfrm>
            <a:off x="1018573" y="704765"/>
            <a:ext cx="11285316" cy="2677656"/>
          </a:xfrm>
          <a:prstGeom prst="rect">
            <a:avLst/>
          </a:prstGeom>
          <a:noFill/>
        </p:spPr>
        <p:txBody>
          <a:bodyPr wrap="square">
            <a:spAutoFit/>
          </a:bodyPr>
          <a:lstStyle/>
          <a:p>
            <a:pPr>
              <a:buNone/>
            </a:pPr>
            <a:r>
              <a:rPr lang="kk-KZ" sz="2400" b="1" dirty="0" smtClean="0">
                <a:latin typeface="Times New Roman" panose="02020603050405020304" pitchFamily="18" charset="0"/>
                <a:cs typeface="Times New Roman" panose="02020603050405020304" pitchFamily="18" charset="0"/>
              </a:rPr>
              <a:t>Клиенттік қосымшасының аспапты </a:t>
            </a:r>
            <a:r>
              <a:rPr lang="kk-KZ" sz="2400" b="1" dirty="0">
                <a:latin typeface="Times New Roman" panose="02020603050405020304" pitchFamily="18" charset="0"/>
                <a:cs typeface="Times New Roman" panose="02020603050405020304" pitchFamily="18" charset="0"/>
              </a:rPr>
              <a:t>сатып алу беті</a:t>
            </a:r>
            <a:endParaRPr lang="en-US" sz="2400" b="1" dirty="0">
              <a:latin typeface="Times New Roman" panose="02020603050405020304" pitchFamily="18" charset="0"/>
              <a:cs typeface="Times New Roman" panose="02020603050405020304" pitchFamily="18" charset="0"/>
            </a:endParaRPr>
          </a:p>
          <a:p>
            <a:pPr>
              <a:buNone/>
            </a:pPr>
            <a:endParaRPr lang="kk-KZ" b="1" dirty="0">
              <a:latin typeface="Times New Roman" panose="02020603050405020304" pitchFamily="18" charset="0"/>
              <a:cs typeface="Times New Roman" panose="02020603050405020304" pitchFamily="18" charset="0"/>
            </a:endParaRPr>
          </a:p>
          <a:p>
            <a:pPr>
              <a:buNone/>
            </a:pPr>
            <a:r>
              <a:rPr lang="kk-KZ" dirty="0">
                <a:latin typeface="Times New Roman" panose="02020603050405020304" pitchFamily="18" charset="0"/>
                <a:cs typeface="Times New Roman" panose="02020603050405020304" pitchFamily="18" charset="0"/>
              </a:rPr>
              <a:t>Бұл бет қолданушыға таңдалған аспапты сатып алу үшін қажетті ақпараттарды енгізуге мүмкіндік береді. Қолданушы аты-жөнін, мекенжайын және байланыс нөмірін көрсетеді, сондай-ақ сатып алынатын аспап </a:t>
            </a:r>
          </a:p>
          <a:p>
            <a:pPr>
              <a:buNone/>
            </a:pPr>
            <a:r>
              <a:rPr lang="kk-KZ" dirty="0">
                <a:latin typeface="Times New Roman" panose="02020603050405020304" pitchFamily="18" charset="0"/>
                <a:cs typeface="Times New Roman" panose="02020603050405020304" pitchFamily="18" charset="0"/>
              </a:rPr>
              <a:t>саны таңдалады.</a:t>
            </a:r>
          </a:p>
          <a:p>
            <a:pPr>
              <a:buNone/>
            </a:pPr>
            <a:r>
              <a:rPr lang="kk-KZ" dirty="0">
                <a:latin typeface="Times New Roman" panose="02020603050405020304" pitchFamily="18" charset="0"/>
                <a:cs typeface="Times New Roman" panose="02020603050405020304" pitchFamily="18" charset="0"/>
              </a:rPr>
              <a:t>Жүйе енгізілген мәліметтер негізінде сатып алу операциясын өңдеп, сатылымды деректер базасына автоматты түрде сақтайды. Бұл процесс сатып алуды жылдам, қарапайым және қолданушы үшін барынша ыңғайлы етеді.</a:t>
            </a:r>
          </a:p>
          <a:p>
            <a:pPr>
              <a:buNone/>
            </a:pPr>
            <a:r>
              <a:rPr lang="kk-KZ" dirty="0">
                <a:latin typeface="Times New Roman" panose="02020603050405020304" pitchFamily="18" charset="0"/>
                <a:cs typeface="Times New Roman" panose="02020603050405020304" pitchFamily="18" charset="0"/>
              </a:rPr>
              <a:t>«Сатып алу» батырмасы арқылы тапсырыс рәсімделеді, ал «Артқа» батырмасы қолданушыны алдыңғы бетке қайтарады.</a:t>
            </a:r>
          </a:p>
        </p:txBody>
      </p:sp>
      <p:pic>
        <p:nvPicPr>
          <p:cNvPr id="4" name="Рисунок 32">
            <a:extLst>
              <a:ext uri="{FF2B5EF4-FFF2-40B4-BE49-F238E27FC236}">
                <a16:creationId xmlns:a16="http://schemas.microsoft.com/office/drawing/2014/main" id="{2CA5FFFE-1BE0-EE9D-2325-8365F6E49E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50649" y="3220236"/>
            <a:ext cx="8729102" cy="4911392"/>
          </a:xfrm>
          <a:prstGeom prst="rect">
            <a:avLst/>
          </a:prstGeom>
          <a:noFill/>
          <a:ln>
            <a:noFill/>
          </a:ln>
        </p:spPr>
      </p:pic>
    </p:spTree>
    <p:extLst>
      <p:ext uri="{BB962C8B-B14F-4D97-AF65-F5344CB8AC3E}">
        <p14:creationId xmlns:p14="http://schemas.microsoft.com/office/powerpoint/2010/main" val="585927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F282CAA-D1AF-8039-D741-7BDAA91BB4BE}"/>
              </a:ext>
            </a:extLst>
          </p:cNvPr>
          <p:cNvSpPr/>
          <p:nvPr/>
        </p:nvSpPr>
        <p:spPr>
          <a:xfrm>
            <a:off x="574953" y="584597"/>
            <a:ext cx="4107537" cy="513398"/>
          </a:xfrm>
          <a:prstGeom prst="rect">
            <a:avLst/>
          </a:prstGeom>
          <a:noFill/>
          <a:ln/>
        </p:spPr>
        <p:txBody>
          <a:bodyPr wrap="none" lIns="0" tIns="0" rIns="0" bIns="0" rtlCol="0" anchor="t"/>
          <a:lstStyle/>
          <a:p>
            <a:pPr marL="0" indent="0" algn="l">
              <a:lnSpc>
                <a:spcPts val="4000"/>
              </a:lnSpc>
              <a:buNone/>
            </a:pPr>
            <a:r>
              <a:rPr lang="en-US" sz="3200" b="1" dirty="0">
                <a:latin typeface="Times New Roman" panose="02020603050405020304" pitchFamily="18" charset="0"/>
                <a:ea typeface="Crimson Pro Semi Bold" pitchFamily="34" charset="-122"/>
                <a:cs typeface="Times New Roman" panose="02020603050405020304" pitchFamily="18" charset="0"/>
              </a:rPr>
              <a:t>Қорытынды</a:t>
            </a:r>
            <a:endParaRPr lang="en-US" sz="3200" b="1"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18AFB71A-6E6C-6D11-4DF5-C2C7F704B75A}"/>
              </a:ext>
            </a:extLst>
          </p:cNvPr>
          <p:cNvSpPr/>
          <p:nvPr/>
        </p:nvSpPr>
        <p:spPr>
          <a:xfrm>
            <a:off x="574953" y="1097995"/>
            <a:ext cx="13480494" cy="262890"/>
          </a:xfrm>
          <a:prstGeom prst="rect">
            <a:avLst/>
          </a:prstGeom>
          <a:noFill/>
          <a:ln/>
        </p:spPr>
        <p:txBody>
          <a:bodyPr wrap="none" lIns="0" tIns="0" rIns="0" bIns="0" rtlCol="0" anchor="t"/>
          <a:lstStyle/>
          <a:p>
            <a:pPr marL="0" indent="0" algn="l">
              <a:lnSpc>
                <a:spcPts val="2050"/>
              </a:lnSpc>
              <a:buNone/>
            </a:pPr>
            <a:r>
              <a:rPr lang="en-US" sz="1250" dirty="0">
                <a:latin typeface="Times New Roman" panose="02020603050405020304" pitchFamily="18" charset="0"/>
                <a:ea typeface="Heebo" pitchFamily="34" charset="-122"/>
                <a:cs typeface="Times New Roman" panose="02020603050405020304" pitchFamily="18" charset="0"/>
              </a:rPr>
              <a:t>«</a:t>
            </a:r>
            <a:r>
              <a:rPr lang="en-US" sz="1250" b="1" dirty="0">
                <a:latin typeface="Times New Roman" panose="02020603050405020304" pitchFamily="18" charset="0"/>
                <a:ea typeface="Heebo" pitchFamily="34" charset="-122"/>
                <a:cs typeface="Times New Roman" panose="02020603050405020304" pitchFamily="18" charset="0"/>
              </a:rPr>
              <a:t>Музыка әлемі</a:t>
            </a:r>
            <a:r>
              <a:rPr lang="en-US" sz="1250" dirty="0">
                <a:latin typeface="Times New Roman" panose="02020603050405020304" pitchFamily="18" charset="0"/>
                <a:ea typeface="Heebo" pitchFamily="34" charset="-122"/>
                <a:cs typeface="Times New Roman" panose="02020603050405020304" pitchFamily="18" charset="0"/>
              </a:rPr>
              <a:t>» жобасы музыкалық аспаптар дүкенінің барлық бизнес-процестерін цифрлық форматқа көшіретін тиімді ақпараттық жүйе болып табылады.</a:t>
            </a:r>
            <a:endParaRPr lang="en-US" sz="1250" dirty="0">
              <a:latin typeface="Times New Roman" panose="02020603050405020304" pitchFamily="18" charset="0"/>
              <a:cs typeface="Times New Roman" panose="02020603050405020304" pitchFamily="18" charset="0"/>
            </a:endParaRPr>
          </a:p>
        </p:txBody>
      </p:sp>
      <p:sp>
        <p:nvSpPr>
          <p:cNvPr id="6" name="Text 3">
            <a:extLst>
              <a:ext uri="{FF2B5EF4-FFF2-40B4-BE49-F238E27FC236}">
                <a16:creationId xmlns:a16="http://schemas.microsoft.com/office/drawing/2014/main" id="{1148B6F5-B710-6B29-B9A4-8478003CDAAA}"/>
              </a:ext>
            </a:extLst>
          </p:cNvPr>
          <p:cNvSpPr/>
          <p:nvPr/>
        </p:nvSpPr>
        <p:spPr>
          <a:xfrm>
            <a:off x="574951" y="1367242"/>
            <a:ext cx="2053709" cy="256699"/>
          </a:xfrm>
          <a:prstGeom prst="rect">
            <a:avLst/>
          </a:prstGeom>
          <a:noFill/>
          <a:ln/>
        </p:spPr>
        <p:txBody>
          <a:bodyPr wrap="none" lIns="0" tIns="0" rIns="0" bIns="0" rtlCol="0" anchor="t"/>
          <a:lstStyle/>
          <a:p>
            <a:pPr marL="0" indent="0" algn="l">
              <a:lnSpc>
                <a:spcPts val="2000"/>
              </a:lnSpc>
              <a:buNone/>
            </a:pPr>
            <a:r>
              <a:rPr lang="en-US" sz="1600" b="1" dirty="0">
                <a:latin typeface="Times New Roman" panose="02020603050405020304" pitchFamily="18" charset="0"/>
                <a:ea typeface="Crimson Pro Semi Bold" pitchFamily="34" charset="-122"/>
                <a:cs typeface="Times New Roman" panose="02020603050405020304" pitchFamily="18" charset="0"/>
              </a:rPr>
              <a:t>ДБ моделі</a:t>
            </a:r>
            <a:endParaRPr lang="en-US" sz="1600" b="1" dirty="0">
              <a:latin typeface="Times New Roman" panose="02020603050405020304" pitchFamily="18" charset="0"/>
              <a:cs typeface="Times New Roman" panose="02020603050405020304" pitchFamily="18" charset="0"/>
            </a:endParaRPr>
          </a:p>
        </p:txBody>
      </p:sp>
      <p:sp>
        <p:nvSpPr>
          <p:cNvPr id="7" name="Text 4">
            <a:extLst>
              <a:ext uri="{FF2B5EF4-FFF2-40B4-BE49-F238E27FC236}">
                <a16:creationId xmlns:a16="http://schemas.microsoft.com/office/drawing/2014/main" id="{A460ACFB-1BBA-B6D4-231C-BC2A355C4F4E}"/>
              </a:ext>
            </a:extLst>
          </p:cNvPr>
          <p:cNvSpPr/>
          <p:nvPr/>
        </p:nvSpPr>
        <p:spPr>
          <a:xfrm>
            <a:off x="575270" y="1616217"/>
            <a:ext cx="10611207" cy="856417"/>
          </a:xfrm>
          <a:prstGeom prst="rect">
            <a:avLst/>
          </a:prstGeom>
          <a:noFill/>
          <a:ln/>
        </p:spPr>
        <p:txBody>
          <a:bodyPr wrap="none" lIns="0" tIns="0" rIns="0" bIns="0" rtlCol="0" anchor="t"/>
          <a:lstStyle/>
          <a:p>
            <a:pPr>
              <a:lnSpc>
                <a:spcPts val="2050"/>
              </a:lnSpc>
            </a:pPr>
            <a:r>
              <a:rPr lang="kk-KZ" sz="1400" dirty="0">
                <a:latin typeface="Times New Roman" panose="02020603050405020304" pitchFamily="18" charset="0"/>
                <a:cs typeface="Times New Roman" panose="02020603050405020304" pitchFamily="18" charset="0"/>
              </a:rPr>
              <a:t>Реляциялық деректер базасының толық логикалық моделі жасалып, жүйедегі барлық объектілермен олардың байланыстары анық көрсетілді.</a:t>
            </a:r>
          </a:p>
          <a:p>
            <a:pPr>
              <a:lnSpc>
                <a:spcPts val="2050"/>
              </a:lnSpc>
            </a:pPr>
            <a:r>
              <a:rPr lang="kk-KZ" sz="1400" dirty="0">
                <a:latin typeface="Times New Roman" panose="02020603050405020304" pitchFamily="18" charset="0"/>
                <a:cs typeface="Times New Roman" panose="02020603050405020304" pitchFamily="18" charset="0"/>
              </a:rPr>
              <a:t>Әр кестенің рөлі, арналуы және бір-бірімен қандайқатынаста жұмыс істейтіні нақты белгіленді. Бұл модель мәліметтердің толықтығын, </a:t>
            </a:r>
          </a:p>
          <a:p>
            <a:pPr>
              <a:lnSpc>
                <a:spcPts val="2050"/>
              </a:lnSpc>
            </a:pPr>
            <a:r>
              <a:rPr lang="kk-KZ" sz="1400" dirty="0">
                <a:latin typeface="Times New Roman" panose="02020603050405020304" pitchFamily="18" charset="0"/>
                <a:cs typeface="Times New Roman" panose="02020603050405020304" pitchFamily="18" charset="0"/>
              </a:rPr>
              <a:t>құрылымдылығын және өзара үйлесімділігін қамтамасыз етті.</a:t>
            </a:r>
            <a:endParaRPr lang="en-US" sz="1400" dirty="0">
              <a:latin typeface="Times New Roman" panose="02020603050405020304" pitchFamily="18" charset="0"/>
              <a:cs typeface="Times New Roman" panose="02020603050405020304" pitchFamily="18" charset="0"/>
            </a:endParaRPr>
          </a:p>
          <a:p>
            <a:pPr marL="0" indent="0" algn="l">
              <a:lnSpc>
                <a:spcPts val="2050"/>
              </a:lnSpc>
              <a:buNone/>
            </a:pPr>
            <a:endParaRPr lang="en-US" sz="1250" dirty="0">
              <a:latin typeface="Times New Roman" panose="02020603050405020304" pitchFamily="18" charset="0"/>
              <a:cs typeface="Times New Roman" panose="02020603050405020304" pitchFamily="18" charset="0"/>
            </a:endParaRPr>
          </a:p>
        </p:txBody>
      </p:sp>
      <p:sp>
        <p:nvSpPr>
          <p:cNvPr id="11" name="Text 7">
            <a:extLst>
              <a:ext uri="{FF2B5EF4-FFF2-40B4-BE49-F238E27FC236}">
                <a16:creationId xmlns:a16="http://schemas.microsoft.com/office/drawing/2014/main" id="{AA453924-8677-AF97-4C3F-231B6D241198}"/>
              </a:ext>
            </a:extLst>
          </p:cNvPr>
          <p:cNvSpPr/>
          <p:nvPr/>
        </p:nvSpPr>
        <p:spPr>
          <a:xfrm>
            <a:off x="574953" y="2421043"/>
            <a:ext cx="2053709" cy="256699"/>
          </a:xfrm>
          <a:prstGeom prst="rect">
            <a:avLst/>
          </a:prstGeom>
          <a:noFill/>
          <a:ln/>
        </p:spPr>
        <p:txBody>
          <a:bodyPr wrap="none" lIns="0" tIns="0" rIns="0" bIns="0" rtlCol="0" anchor="t"/>
          <a:lstStyle/>
          <a:p>
            <a:pPr marL="0" indent="0" algn="l">
              <a:lnSpc>
                <a:spcPts val="2000"/>
              </a:lnSpc>
              <a:buNone/>
            </a:pPr>
            <a:r>
              <a:rPr lang="en-US" sz="1600" b="1" dirty="0">
                <a:latin typeface="Times New Roman" panose="02020603050405020304" pitchFamily="18" charset="0"/>
                <a:ea typeface="Crimson Pro Semi Bold" pitchFamily="34" charset="-122"/>
                <a:cs typeface="Times New Roman" panose="02020603050405020304" pitchFamily="18" charset="0"/>
              </a:rPr>
              <a:t>Кестелер</a:t>
            </a:r>
            <a:endParaRPr lang="en-US" sz="1600" b="1" dirty="0">
              <a:latin typeface="Times New Roman" panose="02020603050405020304" pitchFamily="18" charset="0"/>
              <a:cs typeface="Times New Roman" panose="02020603050405020304" pitchFamily="18" charset="0"/>
            </a:endParaRPr>
          </a:p>
        </p:txBody>
      </p:sp>
      <p:sp>
        <p:nvSpPr>
          <p:cNvPr id="12" name="Text 8">
            <a:extLst>
              <a:ext uri="{FF2B5EF4-FFF2-40B4-BE49-F238E27FC236}">
                <a16:creationId xmlns:a16="http://schemas.microsoft.com/office/drawing/2014/main" id="{323DDAE0-917C-1C11-DA8C-EDB0604B9C19}"/>
              </a:ext>
            </a:extLst>
          </p:cNvPr>
          <p:cNvSpPr/>
          <p:nvPr/>
        </p:nvSpPr>
        <p:spPr>
          <a:xfrm>
            <a:off x="575012" y="2694769"/>
            <a:ext cx="11698268" cy="810705"/>
          </a:xfrm>
          <a:prstGeom prst="rect">
            <a:avLst/>
          </a:prstGeom>
          <a:noFill/>
          <a:ln/>
        </p:spPr>
        <p:txBody>
          <a:bodyPr wrap="none" lIns="0" tIns="0" rIns="0" bIns="0" rtlCol="0" anchor="t"/>
          <a:lstStyle/>
          <a:p>
            <a:pPr>
              <a:lnSpc>
                <a:spcPts val="2050"/>
              </a:lnSpc>
            </a:pPr>
            <a:r>
              <a:rPr lang="kk-KZ" sz="1400" dirty="0">
                <a:latin typeface="Times New Roman" panose="02020603050405020304" pitchFamily="18" charset="0"/>
                <a:cs typeface="Times New Roman" panose="02020603050405020304" pitchFamily="18" charset="0"/>
              </a:rPr>
              <a:t>Деректер базасының </a:t>
            </a:r>
            <a:r>
              <a:rPr lang="en-US" sz="1400" dirty="0" err="1">
                <a:latin typeface="Times New Roman" panose="02020603050405020304" pitchFamily="18" charset="0"/>
                <a:cs typeface="Times New Roman" panose="02020603050405020304" pitchFamily="18" charset="0"/>
              </a:rPr>
              <a:t>Aspap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AspapTuri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Ondirushi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Klient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Kyzmetker</a:t>
            </a:r>
            <a:r>
              <a:rPr lang="en-US" sz="1400" dirty="0">
                <a:latin typeface="Times New Roman" panose="02020603050405020304" pitchFamily="18" charset="0"/>
                <a:cs typeface="Times New Roman" panose="02020603050405020304" pitchFamily="18" charset="0"/>
              </a:rPr>
              <a:t> </a:t>
            </a:r>
            <a:r>
              <a:rPr lang="kk-KZ" sz="1400" dirty="0">
                <a:latin typeface="Times New Roman" panose="02020603050405020304" pitchFamily="18" charset="0"/>
                <a:cs typeface="Times New Roman" panose="02020603050405020304" pitchFamily="18" charset="0"/>
              </a:rPr>
              <a:t>және </a:t>
            </a:r>
            <a:r>
              <a:rPr lang="en-US" sz="1400" dirty="0" err="1">
                <a:latin typeface="Times New Roman" panose="02020603050405020304" pitchFamily="18" charset="0"/>
                <a:cs typeface="Times New Roman" panose="02020603050405020304" pitchFamily="18" charset="0"/>
              </a:rPr>
              <a:t>Satylym</a:t>
            </a:r>
            <a:r>
              <a:rPr lang="en-US" sz="1400" dirty="0">
                <a:latin typeface="Times New Roman" panose="02020603050405020304" pitchFamily="18" charset="0"/>
                <a:cs typeface="Times New Roman" panose="02020603050405020304" pitchFamily="18" charset="0"/>
              </a:rPr>
              <a:t> </a:t>
            </a:r>
            <a:r>
              <a:rPr lang="kk-KZ" sz="1400" dirty="0">
                <a:latin typeface="Times New Roman" panose="02020603050405020304" pitchFamily="18" charset="0"/>
                <a:cs typeface="Times New Roman" panose="02020603050405020304" pitchFamily="18" charset="0"/>
              </a:rPr>
              <a:t>сияқты барлық негізгі кестелері дұрыс жобаланып, олардың арасындағы</a:t>
            </a:r>
          </a:p>
          <a:p>
            <a:pPr>
              <a:lnSpc>
                <a:spcPts val="2050"/>
              </a:lnSpc>
            </a:pPr>
            <a:r>
              <a:rPr lang="kk-KZ" sz="1400" dirty="0">
                <a:latin typeface="Times New Roman" panose="02020603050405020304" pitchFamily="18" charset="0"/>
                <a:cs typeface="Times New Roman" panose="02020603050405020304" pitchFamily="18" charset="0"/>
              </a:rPr>
              <a:t>байланыстар толық сақталды. Әрбір кестенің өрістері нақты қажеттілікке сай таңдалып, </a:t>
            </a:r>
            <a:r>
              <a:rPr lang="en-US" sz="1400" dirty="0">
                <a:latin typeface="Times New Roman" panose="02020603050405020304" pitchFamily="18" charset="0"/>
                <a:cs typeface="Times New Roman" panose="02020603050405020304" pitchFamily="18" charset="0"/>
              </a:rPr>
              <a:t>PRIMARY </a:t>
            </a:r>
            <a:r>
              <a:rPr lang="kk-KZ" sz="1400" dirty="0">
                <a:latin typeface="Times New Roman" panose="02020603050405020304" pitchFamily="18" charset="0"/>
                <a:cs typeface="Times New Roman" panose="02020603050405020304" pitchFamily="18" charset="0"/>
              </a:rPr>
              <a:t>және </a:t>
            </a:r>
            <a:r>
              <a:rPr lang="en-US" sz="1400" dirty="0">
                <a:latin typeface="Times New Roman" panose="02020603050405020304" pitchFamily="18" charset="0"/>
                <a:cs typeface="Times New Roman" panose="02020603050405020304" pitchFamily="18" charset="0"/>
              </a:rPr>
              <a:t>FOREIGN KEY </a:t>
            </a:r>
            <a:r>
              <a:rPr lang="kk-KZ" sz="1400" dirty="0">
                <a:latin typeface="Times New Roman" panose="02020603050405020304" pitchFamily="18" charset="0"/>
                <a:cs typeface="Times New Roman" panose="02020603050405020304" pitchFamily="18" charset="0"/>
              </a:rPr>
              <a:t>шектеулері арқылы мәліметтердің</a:t>
            </a:r>
          </a:p>
          <a:p>
            <a:pPr>
              <a:lnSpc>
                <a:spcPts val="2050"/>
              </a:lnSpc>
            </a:pPr>
            <a:r>
              <a:rPr lang="kk-KZ" sz="1400" dirty="0">
                <a:latin typeface="Times New Roman" panose="02020603050405020304" pitchFamily="18" charset="0"/>
                <a:cs typeface="Times New Roman" panose="02020603050405020304" pitchFamily="18" charset="0"/>
              </a:rPr>
              <a:t>тұтастығы қамтамасыз етілді.</a:t>
            </a:r>
            <a:endParaRPr lang="en-US" sz="1250" dirty="0">
              <a:latin typeface="Times New Roman" panose="02020603050405020304" pitchFamily="18" charset="0"/>
              <a:cs typeface="Times New Roman" panose="02020603050405020304" pitchFamily="18" charset="0"/>
            </a:endParaRPr>
          </a:p>
        </p:txBody>
      </p:sp>
      <p:sp>
        <p:nvSpPr>
          <p:cNvPr id="16" name="Text 11">
            <a:extLst>
              <a:ext uri="{FF2B5EF4-FFF2-40B4-BE49-F238E27FC236}">
                <a16:creationId xmlns:a16="http://schemas.microsoft.com/office/drawing/2014/main" id="{6533E2D7-FC33-4AF6-8DAD-930CDAB64794}"/>
              </a:ext>
            </a:extLst>
          </p:cNvPr>
          <p:cNvSpPr/>
          <p:nvPr/>
        </p:nvSpPr>
        <p:spPr>
          <a:xfrm>
            <a:off x="574952" y="3508573"/>
            <a:ext cx="2053709" cy="256699"/>
          </a:xfrm>
          <a:prstGeom prst="rect">
            <a:avLst/>
          </a:prstGeom>
          <a:noFill/>
          <a:ln/>
        </p:spPr>
        <p:txBody>
          <a:bodyPr wrap="none" lIns="0" tIns="0" rIns="0" bIns="0" rtlCol="0" anchor="t"/>
          <a:lstStyle/>
          <a:p>
            <a:pPr marL="0" indent="0" algn="l">
              <a:lnSpc>
                <a:spcPts val="2000"/>
              </a:lnSpc>
              <a:buNone/>
            </a:pPr>
            <a:r>
              <a:rPr lang="en-US" sz="1600" b="1" dirty="0">
                <a:latin typeface="Times New Roman" panose="02020603050405020304" pitchFamily="18" charset="0"/>
                <a:ea typeface="Crimson Pro Semi Bold" pitchFamily="34" charset="-122"/>
                <a:cs typeface="Times New Roman" panose="02020603050405020304" pitchFamily="18" charset="0"/>
              </a:rPr>
              <a:t>Талдау</a:t>
            </a:r>
            <a:endParaRPr lang="en-US" sz="1600" b="1" dirty="0">
              <a:latin typeface="Times New Roman" panose="02020603050405020304" pitchFamily="18" charset="0"/>
              <a:cs typeface="Times New Roman" panose="02020603050405020304" pitchFamily="18" charset="0"/>
            </a:endParaRPr>
          </a:p>
        </p:txBody>
      </p:sp>
      <p:sp>
        <p:nvSpPr>
          <p:cNvPr id="17" name="Text 12">
            <a:extLst>
              <a:ext uri="{FF2B5EF4-FFF2-40B4-BE49-F238E27FC236}">
                <a16:creationId xmlns:a16="http://schemas.microsoft.com/office/drawing/2014/main" id="{E2E41AC6-439C-036A-955C-3E0DEBC3615B}"/>
              </a:ext>
            </a:extLst>
          </p:cNvPr>
          <p:cNvSpPr/>
          <p:nvPr/>
        </p:nvSpPr>
        <p:spPr>
          <a:xfrm>
            <a:off x="574952" y="3765509"/>
            <a:ext cx="11850727" cy="847582"/>
          </a:xfrm>
          <a:prstGeom prst="rect">
            <a:avLst/>
          </a:prstGeom>
          <a:noFill/>
          <a:ln/>
        </p:spPr>
        <p:txBody>
          <a:bodyPr wrap="none" lIns="0" tIns="0" rIns="0" bIns="0" rtlCol="0" anchor="t"/>
          <a:lstStyle/>
          <a:p>
            <a:pPr>
              <a:lnSpc>
                <a:spcPts val="2050"/>
              </a:lnSpc>
            </a:pPr>
            <a:r>
              <a:rPr lang="en-US" sz="1400" dirty="0">
                <a:latin typeface="Times New Roman" panose="02020603050405020304" pitchFamily="18" charset="0"/>
                <a:cs typeface="Times New Roman" panose="02020603050405020304" pitchFamily="18" charset="0"/>
              </a:rPr>
              <a:t>SQL </a:t>
            </a:r>
            <a:r>
              <a:rPr lang="kk-KZ" sz="1400" dirty="0">
                <a:latin typeface="Times New Roman" panose="02020603050405020304" pitchFamily="18" charset="0"/>
                <a:cs typeface="Times New Roman" panose="02020603050405020304" pitchFamily="18" charset="0"/>
              </a:rPr>
              <a:t>сұратымдары арқылы деректерді сұрыптау, топтау, біріктіру, агрегаттық функциялар орындау және күрделі кірістірілген сұратымдарды жүзеге асыру </a:t>
            </a:r>
          </a:p>
          <a:p>
            <a:pPr>
              <a:lnSpc>
                <a:spcPts val="2050"/>
              </a:lnSpc>
            </a:pPr>
            <a:r>
              <a:rPr lang="kk-KZ" sz="1400" dirty="0">
                <a:latin typeface="Times New Roman" panose="02020603050405020304" pitchFamily="18" charset="0"/>
                <a:cs typeface="Times New Roman" panose="02020603050405020304" pitchFamily="18" charset="0"/>
              </a:rPr>
              <a:t>толық орындалды. Бұл дүкеннің қаржылық көрсеткіштері, сатылым динамикасы, клиенттік белсенділік және қызметкерлердің жұмыс тиімділігі бойынша</a:t>
            </a:r>
          </a:p>
          <a:p>
            <a:pPr>
              <a:lnSpc>
                <a:spcPts val="2050"/>
              </a:lnSpc>
            </a:pPr>
            <a:r>
              <a:rPr lang="kk-KZ" sz="1400" dirty="0">
                <a:latin typeface="Times New Roman" panose="02020603050405020304" pitchFamily="18" charset="0"/>
                <a:cs typeface="Times New Roman" panose="02020603050405020304" pitchFamily="18" charset="0"/>
              </a:rPr>
              <a:t>толық талдаулар жасауға мүмкіндік берді.</a:t>
            </a:r>
            <a:endParaRPr lang="en-US" sz="1250" dirty="0">
              <a:latin typeface="Times New Roman" panose="02020603050405020304" pitchFamily="18" charset="0"/>
              <a:cs typeface="Times New Roman" panose="02020603050405020304" pitchFamily="18" charset="0"/>
            </a:endParaRPr>
          </a:p>
        </p:txBody>
      </p:sp>
      <p:sp>
        <p:nvSpPr>
          <p:cNvPr id="21" name="Text 15">
            <a:extLst>
              <a:ext uri="{FF2B5EF4-FFF2-40B4-BE49-F238E27FC236}">
                <a16:creationId xmlns:a16="http://schemas.microsoft.com/office/drawing/2014/main" id="{EBF9CE86-3FBD-D0C4-8C5D-1B46632BC2FC}"/>
              </a:ext>
            </a:extLst>
          </p:cNvPr>
          <p:cNvSpPr/>
          <p:nvPr/>
        </p:nvSpPr>
        <p:spPr>
          <a:xfrm>
            <a:off x="575270" y="4608586"/>
            <a:ext cx="2053709" cy="256699"/>
          </a:xfrm>
          <a:prstGeom prst="rect">
            <a:avLst/>
          </a:prstGeom>
          <a:noFill/>
          <a:ln/>
        </p:spPr>
        <p:txBody>
          <a:bodyPr wrap="none" lIns="0" tIns="0" rIns="0" bIns="0" rtlCol="0" anchor="t"/>
          <a:lstStyle/>
          <a:p>
            <a:pPr marL="0" indent="0" algn="l">
              <a:lnSpc>
                <a:spcPts val="2000"/>
              </a:lnSpc>
              <a:buNone/>
            </a:pPr>
            <a:r>
              <a:rPr lang="en-US" sz="1600" b="1" dirty="0">
                <a:latin typeface="Times New Roman" panose="02020603050405020304" pitchFamily="18" charset="0"/>
                <a:ea typeface="Crimson Pro Semi Bold" pitchFamily="34" charset="-122"/>
                <a:cs typeface="Times New Roman" panose="02020603050405020304" pitchFamily="18" charset="0"/>
              </a:rPr>
              <a:t>Веб-интерфейс</a:t>
            </a:r>
            <a:endParaRPr lang="en-US" sz="1600" b="1" dirty="0">
              <a:latin typeface="Times New Roman" panose="02020603050405020304" pitchFamily="18" charset="0"/>
              <a:cs typeface="Times New Roman" panose="02020603050405020304" pitchFamily="18" charset="0"/>
            </a:endParaRPr>
          </a:p>
        </p:txBody>
      </p:sp>
      <p:sp>
        <p:nvSpPr>
          <p:cNvPr id="22" name="Text 16">
            <a:extLst>
              <a:ext uri="{FF2B5EF4-FFF2-40B4-BE49-F238E27FC236}">
                <a16:creationId xmlns:a16="http://schemas.microsoft.com/office/drawing/2014/main" id="{A648FC44-48A5-2E19-A0B9-384D7E3AB8EB}"/>
              </a:ext>
            </a:extLst>
          </p:cNvPr>
          <p:cNvSpPr/>
          <p:nvPr/>
        </p:nvSpPr>
        <p:spPr>
          <a:xfrm>
            <a:off x="574952" y="4866615"/>
            <a:ext cx="11698327" cy="796917"/>
          </a:xfrm>
          <a:prstGeom prst="rect">
            <a:avLst/>
          </a:prstGeom>
          <a:noFill/>
          <a:ln/>
        </p:spPr>
        <p:txBody>
          <a:bodyPr wrap="none" lIns="0" tIns="0" rIns="0" bIns="0" rtlCol="0" anchor="t"/>
          <a:lstStyle/>
          <a:p>
            <a:pPr>
              <a:lnSpc>
                <a:spcPts val="2050"/>
              </a:lnSpc>
            </a:pPr>
            <a:r>
              <a:rPr lang="kk-KZ" sz="1400" dirty="0">
                <a:latin typeface="Times New Roman" panose="02020603050405020304" pitchFamily="18" charset="0"/>
                <a:cs typeface="Times New Roman" panose="02020603050405020304" pitchFamily="18" charset="0"/>
              </a:rPr>
              <a:t>Жүйеге қолданушы және әкімші үшін арнайы веб-интерфейс әзірленді. Қолданушы интерфейсі аспаптарды көру, сүзу, іздеу және сатып алу мүмкіндігін</a:t>
            </a:r>
          </a:p>
          <a:p>
            <a:pPr>
              <a:lnSpc>
                <a:spcPts val="2050"/>
              </a:lnSpc>
            </a:pPr>
            <a:r>
              <a:rPr lang="kk-KZ" sz="1400" dirty="0">
                <a:latin typeface="Times New Roman" panose="02020603050405020304" pitchFamily="18" charset="0"/>
                <a:cs typeface="Times New Roman" panose="02020603050405020304" pitchFamily="18" charset="0"/>
              </a:rPr>
              <a:t> ұсынады. Әкімші панелі тауар, клиент, қызметкер, өндіруші және сатылым мәліметтерін толық басқаруға арналған. Бұл интерфейс жүйенің барлық</a:t>
            </a:r>
          </a:p>
          <a:p>
            <a:pPr>
              <a:lnSpc>
                <a:spcPts val="2050"/>
              </a:lnSpc>
            </a:pPr>
            <a:r>
              <a:rPr lang="kk-KZ" sz="1400" dirty="0">
                <a:latin typeface="Times New Roman" panose="02020603050405020304" pitchFamily="18" charset="0"/>
                <a:cs typeface="Times New Roman" panose="02020603050405020304" pitchFamily="18" charset="0"/>
              </a:rPr>
              <a:t> мүмкіндіктерін ыңғайлы, қолжетімді түрде көрсетеді.</a:t>
            </a:r>
            <a:endParaRPr lang="en-US" sz="1250" dirty="0">
              <a:latin typeface="Times New Roman" panose="02020603050405020304" pitchFamily="18" charset="0"/>
              <a:cs typeface="Times New Roman" panose="02020603050405020304" pitchFamily="18" charset="0"/>
            </a:endParaRPr>
          </a:p>
        </p:txBody>
      </p:sp>
      <p:sp>
        <p:nvSpPr>
          <p:cNvPr id="26" name="Text 19">
            <a:extLst>
              <a:ext uri="{FF2B5EF4-FFF2-40B4-BE49-F238E27FC236}">
                <a16:creationId xmlns:a16="http://schemas.microsoft.com/office/drawing/2014/main" id="{75D3F55D-81DF-D70D-1C11-3B46843344D7}"/>
              </a:ext>
            </a:extLst>
          </p:cNvPr>
          <p:cNvSpPr/>
          <p:nvPr/>
        </p:nvSpPr>
        <p:spPr>
          <a:xfrm>
            <a:off x="575270" y="5666968"/>
            <a:ext cx="2053709" cy="256699"/>
          </a:xfrm>
          <a:prstGeom prst="rect">
            <a:avLst/>
          </a:prstGeom>
          <a:noFill/>
          <a:ln/>
        </p:spPr>
        <p:txBody>
          <a:bodyPr wrap="none" lIns="0" tIns="0" rIns="0" bIns="0" rtlCol="0" anchor="t"/>
          <a:lstStyle/>
          <a:p>
            <a:pPr marL="0" indent="0" algn="l">
              <a:lnSpc>
                <a:spcPts val="2000"/>
              </a:lnSpc>
              <a:buNone/>
            </a:pPr>
            <a:r>
              <a:rPr lang="en-US" sz="1600" b="1" dirty="0">
                <a:latin typeface="Times New Roman" panose="02020603050405020304" pitchFamily="18" charset="0"/>
                <a:ea typeface="Crimson Pro Semi Bold" pitchFamily="34" charset="-122"/>
                <a:cs typeface="Times New Roman" panose="02020603050405020304" pitchFamily="18" charset="0"/>
              </a:rPr>
              <a:t>Автоматтандыру</a:t>
            </a:r>
            <a:endParaRPr lang="en-US" sz="1600" b="1" dirty="0">
              <a:latin typeface="Times New Roman" panose="02020603050405020304" pitchFamily="18" charset="0"/>
              <a:cs typeface="Times New Roman" panose="02020603050405020304" pitchFamily="18" charset="0"/>
            </a:endParaRPr>
          </a:p>
        </p:txBody>
      </p:sp>
      <p:sp>
        <p:nvSpPr>
          <p:cNvPr id="27" name="Text 20">
            <a:extLst>
              <a:ext uri="{FF2B5EF4-FFF2-40B4-BE49-F238E27FC236}">
                <a16:creationId xmlns:a16="http://schemas.microsoft.com/office/drawing/2014/main" id="{1915A086-5EAC-D3AB-F6D8-E3E8919662F6}"/>
              </a:ext>
            </a:extLst>
          </p:cNvPr>
          <p:cNvSpPr/>
          <p:nvPr/>
        </p:nvSpPr>
        <p:spPr>
          <a:xfrm>
            <a:off x="574952" y="5925272"/>
            <a:ext cx="12012970" cy="796917"/>
          </a:xfrm>
          <a:prstGeom prst="rect">
            <a:avLst/>
          </a:prstGeom>
          <a:noFill/>
          <a:ln/>
        </p:spPr>
        <p:txBody>
          <a:bodyPr wrap="square" lIns="0" tIns="0" rIns="0" bIns="0" rtlCol="0" anchor="t"/>
          <a:lstStyle/>
          <a:p>
            <a:pPr>
              <a:lnSpc>
                <a:spcPts val="2050"/>
              </a:lnSpc>
            </a:pPr>
            <a:r>
              <a:rPr lang="kk-KZ" sz="1400" dirty="0">
                <a:latin typeface="Times New Roman" panose="02020603050405020304" pitchFamily="18" charset="0"/>
                <a:cs typeface="Times New Roman" panose="02020603050405020304" pitchFamily="18" charset="0"/>
              </a:rPr>
              <a:t>Сатылым, тауар есебі, клиенттер туралы ақпарат және қызметкерлердің жұмысы автоматты түрде өңделетін жүйе әзірленді. Сатып алу кезінде клиент мәліметін енгізу, бағаны автоматты есептеу, сатылым жазбасын сақтау, қызметкерді тағайындау сияқты әрекеттер толығымен автоматтандырылды. Бұл дүкен жұмысындағы қателіктерді азайтып, жылдамдық пен тиімділікті арттырды.</a:t>
            </a:r>
            <a:endParaRPr lang="en-US" sz="1250" dirty="0">
              <a:latin typeface="Times New Roman" panose="02020603050405020304" pitchFamily="18" charset="0"/>
              <a:cs typeface="Times New Roman" panose="02020603050405020304" pitchFamily="18" charset="0"/>
            </a:endParaRPr>
          </a:p>
        </p:txBody>
      </p:sp>
      <p:sp>
        <p:nvSpPr>
          <p:cNvPr id="28" name="Text 21">
            <a:extLst>
              <a:ext uri="{FF2B5EF4-FFF2-40B4-BE49-F238E27FC236}">
                <a16:creationId xmlns:a16="http://schemas.microsoft.com/office/drawing/2014/main" id="{B2872205-7013-5FDD-FF22-3AC920172CAC}"/>
              </a:ext>
            </a:extLst>
          </p:cNvPr>
          <p:cNvSpPr/>
          <p:nvPr/>
        </p:nvSpPr>
        <p:spPr>
          <a:xfrm>
            <a:off x="574952" y="6975713"/>
            <a:ext cx="13480494" cy="1042833"/>
          </a:xfrm>
          <a:prstGeom prst="rect">
            <a:avLst/>
          </a:prstGeom>
          <a:noFill/>
          <a:ln/>
        </p:spPr>
        <p:txBody>
          <a:bodyPr wrap="none" lIns="0" tIns="0" rIns="0" bIns="0" rtlCol="0" anchor="t"/>
          <a:lstStyle/>
          <a:p>
            <a:pPr>
              <a:lnSpc>
                <a:spcPts val="2050"/>
              </a:lnSpc>
            </a:pPr>
            <a:r>
              <a:rPr lang="kk-KZ" sz="1400" dirty="0">
                <a:latin typeface="Times New Roman" panose="02020603050405020304" pitchFamily="18" charset="0"/>
                <a:cs typeface="Times New Roman" panose="02020603050405020304" pitchFamily="18" charset="0"/>
              </a:rPr>
              <a:t>Бұл жүйе қателіктерді азайтып, уақытты үнемдейді, мәліметтерді нақты және құрылымды түрде сақтайды. Жасалған ақпараттық жүйе музыкалық аспаптар</a:t>
            </a:r>
          </a:p>
          <a:p>
            <a:pPr>
              <a:lnSpc>
                <a:spcPts val="2050"/>
              </a:lnSpc>
            </a:pPr>
            <a:r>
              <a:rPr lang="kk-KZ" sz="1400" dirty="0">
                <a:latin typeface="Times New Roman" panose="02020603050405020304" pitchFamily="18" charset="0"/>
                <a:cs typeface="Times New Roman" panose="02020603050405020304" pitchFamily="18" charset="0"/>
              </a:rPr>
              <a:t>дүкенінің жұмысын жаңа деңгейге көтеріп, барлық бизнес-процестерді толықтай автоматтандыруға мүмкіндік береді.</a:t>
            </a:r>
            <a:endParaRPr lang="en-US" sz="12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3532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3364</TotalTime>
  <Words>1110</Words>
  <Application>Microsoft Office PowerPoint</Application>
  <PresentationFormat>Произвольный</PresentationFormat>
  <Paragraphs>130</Paragraphs>
  <Slides>12</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12</vt:i4>
      </vt:variant>
    </vt:vector>
  </HeadingPairs>
  <TitlesOfParts>
    <vt:vector size="18" baseType="lpstr">
      <vt:lpstr>Crimson Pro Semi Bold</vt:lpstr>
      <vt:lpstr>Arial</vt:lpstr>
      <vt:lpstr>Times New Roman</vt:lpstr>
      <vt:lpstr>Heebo</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NurZhan qwerty</dc:creator>
  <cp:lastModifiedBy>NurZhan qwerty</cp:lastModifiedBy>
  <cp:revision>7</cp:revision>
  <dcterms:created xsi:type="dcterms:W3CDTF">2025-12-01T12:35:04Z</dcterms:created>
  <dcterms:modified xsi:type="dcterms:W3CDTF">2025-12-11T07:12:05Z</dcterms:modified>
</cp:coreProperties>
</file>